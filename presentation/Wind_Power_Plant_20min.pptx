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Presenter A | 00:00–00:45</a:t>
            </a:r>
          </a:p>
          <a:p/>
          <a:p>
            <a:r>
              <a:t>ENGLISH SCRIPT</a:t>
            </a:r>
          </a:p>
          <a:p>
            <a:r>
              <a:t>Good afternoon, everyone. Today we will present wind power plants: how they turn moving air into electricity, and how that electricity becomes useful to the power system. Our main message is that a wind farm is more than a collection of turbines. It is an energy-conversion system, an electrical network, and a controlled power plant. I will explain the operating principle, equipment, and performance. My partner will then discuss grid integration, environmental impacts, global and regional use, and a real offshore example. We will finish by comparing wind with other generation technologies.</a:t>
            </a:r>
          </a:p>
          <a:p/>
          <a:p>
            <a:r>
              <a:t>中文提示</a:t>
            </a:r>
          </a:p>
          <a:p>
            <a:r>
              <a:t>开场：介绍风力发电主题、六项要求和两人的分工。不要逐条读目录。</a:t>
            </a:r>
          </a:p>
          <a:p/>
          <a:p>
            <a:r>
              <a:t>Sources</a:t>
            </a:r>
          </a:p>
          <a:p>
            <a:r>
              <a:t>R1: U.S. Department of Energy. How Do Wind Turbines Work? https://www.energy.gov/eere/wind/how-do-wind-turbines-work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Presenter A | 00:45–02:00</a:t>
            </a:r>
          </a:p>
          <a:p/>
          <a:p>
            <a:r>
              <a:t>ENGLISH SCRIPT</a:t>
            </a:r>
          </a:p>
          <a:p>
            <a:r>
              <a:t>The energy source is the kinetic energy of moving air. Wind is ultimately driven by uneven solar heating, pressure differences, and the rotation of the Earth. A wind turbine intercepts part of that moving air and converts some of its energy into mechanical rotation. Unlike a coal or gas plant, it does not purchase and burn a fuel during generation. However, this does not mean that the entire plant has zero environmental impact. Manufacturing, construction, maintenance, and disposal still matter. Wind plants may be built on land or offshore. Offshore locations can offer strong wind resources and space for large turbines, but foundations, cables, installation, and maintenance are more demanding. In both cases, the available resource varies. This is why site assessment and coordinated plant operation are just as important as the turbine itself.</a:t>
            </a:r>
          </a:p>
          <a:p/>
          <a:p>
            <a:r>
              <a:t>中文提示</a:t>
            </a:r>
          </a:p>
          <a:p>
            <a:r>
              <a:t>风的能源来自空气运动；运行时不燃烧燃料，但不是全生命周期零排放。区分陆上/海上，点明发电输出随资源变化。</a:t>
            </a:r>
          </a:p>
          <a:p/>
          <a:p>
            <a:r>
              <a:t>Sources</a:t>
            </a:r>
          </a:p>
          <a:p>
            <a:r>
              <a:t>R1: U.S. Department of Energy. How Do Wind Turbines Work? https://www.energy.gov/eere/wind/how-do-wind-turbines-work</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Presenter A | 02:00–03:40</a:t>
            </a:r>
          </a:p>
          <a:p/>
          <a:p>
            <a:r>
              <a:t>ENGLISH SCRIPT</a:t>
            </a:r>
          </a:p>
          <a:p>
            <a:r>
              <a:t>Most modern utility-scale wind turbines use three blades on a horizontal-axis rotor. The blade cross-section behaves like an airfoil. As air flows around it, aerodynamic forces develop. The tangential component of these forces produces torque, which turns the rotor. We can follow the energy path shown here. Moving air supplies kinetic energy. The rotor converts part of that energy into mechanical shaft power. The generator converts mechanical power into electrical power. Power electronics, where used, condition the electrical output, and a transformer raises its voltage for collection within the wind farm. The rotor normally does not turn at one fixed speed for every wind condition. Variable-speed operation helps the turbine capture energy efficiently over a range of winds. The controller also changes blade pitch when required. So the operating principle combines aerodynamics, mechanical rotation, electromagnetic conversion, and active control. None of these stages captures all of the incoming wind energy, which leads us to the plant layout and later to efficiency.</a:t>
            </a:r>
          </a:p>
          <a:p/>
          <a:p>
            <a:r>
              <a:t>中文提示</a:t>
            </a:r>
          </a:p>
          <a:p>
            <a:r>
              <a:t>结合原创示意图指着叶片、转子、发电机和并网链条讲。升力产生转矩，风机并非只靠风“推”叶片；图是机制示意，不是具体产品。</a:t>
            </a:r>
          </a:p>
          <a:p/>
          <a:p>
            <a:r>
              <a:t>Sources</a:t>
            </a:r>
          </a:p>
          <a:p>
            <a:r>
              <a:t>R1: U.S. Department of Energy. How Do Wind Turbines Work? https://www.energy.gov/eere/wind/how-do-wind-turbines-work</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Presenter A | 03:40–05:30</a:t>
            </a:r>
          </a:p>
          <a:p/>
          <a:p>
            <a:r>
              <a:t>ENGLISH SCRIPT</a:t>
            </a:r>
          </a:p>
          <a:p>
            <a:r>
              <a:t>At turbine level, the main components are the rotor, nacelle, tower, and foundation. The nacelle contains the drive train, generator, and associated equipment. Some turbines use a gearbox to increase shaft speed before the generator. Others use direct drive, connecting the rotor to a generator without a gearbox. These are alternative designs, rather than a sequence of components that every turbine must contain. The tower raises the rotor into the wind resource, and the foundation transfers structural loads into the ground or seabed. At plant level, several turbines feed a collection network. Their outputs are combined at a substation, where transformers raise the voltage for the grid connection. Protection, switchgear, metering, and communication systems are also essential. The lower diagram shows a simplified full-converter electrical arrangement. It is an illustrative architecture, not the only wind-turbine design. For example, doubly fed induction generators use a different converter arrangement. The important distinction is that a wind farm must manage both the individual turbines and the shared connection to the power system. This allows operators to control the plant as one coordinated source of electricity.</a:t>
            </a:r>
          </a:p>
          <a:p/>
          <a:p>
            <a:r>
              <a:t>中文提示</a:t>
            </a:r>
          </a:p>
          <a:p>
            <a:r>
              <a:t>先讲机械设备，再沿电气链条讲整个风场。图画的是全功率变流器示例；DFIG 等其他接线不一定相同。直驱省去齿轮箱，不省去发电机或控制。</a:t>
            </a:r>
          </a:p>
          <a:p/>
          <a:p>
            <a:r>
              <a:t>Sources</a:t>
            </a:r>
          </a:p>
          <a:p>
            <a:r>
              <a:t>R2: U.S. Department of Energy. Inside a Wind Turbine. https://www.energy.gov/eere/wind/inside-wind-turbine</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Presenter A | 05:30–06:50</a:t>
            </a:r>
          </a:p>
          <a:p/>
          <a:p>
            <a:r>
              <a:t>ENGLISH SCRIPT</a:t>
            </a:r>
          </a:p>
          <a:p>
            <a:r>
              <a:t>Three control functions are particularly important. Yaw control turns the nacelle so that the rotor faces the wind direction. Pitch control changes the angle of the blades, affecting aerodynamic forces and the amount of power extracted. Generator torque and speed control help maintain efficient operation below rated power. As wind speed increases toward and beyond the rated operating point, pitch control limits aerodynamic power and helps manage structural loads. At very high winds, the turbine may shut down for safety. Exact operating thresholds depend on the turbine model; there is no single universal cut-out speed for every machine. The plant controller adds another layer. It can coordinate active-power limits, reactive-power commands, and turbine operation across the farm. These controls therefore serve two purposes: capture useful energy when conditions allow, and protect the equipment when conditions become demanding. The same hardware also helps explain why wind turbines can contribute to grid support, which my partner will discuss later.</a:t>
            </a:r>
          </a:p>
          <a:p/>
          <a:p>
            <a:r>
              <a:t>中文提示</a:t>
            </a:r>
          </a:p>
          <a:p>
            <a:r>
              <a:t>三个控制不要混淆：偏航对准方向、变桨调节叶片角、转矩/转速优化捕获。超过工作限制会限功率或停机；具体阈值取决于型号。</a:t>
            </a:r>
          </a:p>
          <a:p/>
          <a:p>
            <a:r>
              <a:t>Sources</a:t>
            </a:r>
          </a:p>
          <a:p>
            <a:r>
              <a:t>R2: U.S. Department of Energy. Inside a Wind Turbine. https://www.energy.gov/eere/wind/inside-wind-turbine</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Presenter A | 06:50–08:30</a:t>
            </a:r>
          </a:p>
          <a:p/>
          <a:p>
            <a:r>
              <a:t>ENGLISH SCRIPT</a:t>
            </a:r>
          </a:p>
          <a:p>
            <a:r>
              <a:t>The simplified power equation is shown at the top: electrical power is approximately one half times air density, swept area, wind speed cubed, the power coefficient, and the downstream efficiency. The swept area depends on the square of rotor diameter. The power coefficient tells us what fraction of the wind power the rotor captures, while the efficiency term accounts for downstream mechanical and electrical losses. For an illustrative example, assume a rotor diameter of one hundred and twenty metres, a wind speed of eight metres per second, an air density of one point two two five kilograms per cubic metre, a power coefficient of zero point four five, and a downstream efficiency of zero point nine four. These assumptions give approximately one point five megawatts of electrical output. This is a teaching calculation, not a measured turbine performance claim. The ideal Betz limit is about fifty-nine point three percent for an ideal actuator disk. A real turbine captures less, and its electrical output is further reduced by losses. Wind speed is powerful because it is cubed in this model, but actual output is constrained by changing aerodynamics, control, and rated capacity.</a:t>
            </a:r>
          </a:p>
          <a:p/>
          <a:p>
            <a:r>
              <a:t>中文提示</a:t>
            </a:r>
          </a:p>
          <a:p>
            <a:r>
              <a:t>示例不是某型号的实测性能。区分气流功率、转子捕获功率和电功率。v³关系仅在其他参数不变的模型中成立，不能说风速加倍实际输出永远八倍。</a:t>
            </a:r>
          </a:p>
          <a:p/>
          <a:p>
            <a:r>
              <a:t>Sources</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Presenter A | 08:30–10:00</a:t>
            </a:r>
          </a:p>
          <a:p/>
          <a:p>
            <a:r>
              <a:t>ENGLISH SCRIPT</a:t>
            </a:r>
          </a:p>
          <a:p>
            <a:r>
              <a:t>There are three performance concepts that we should keep separate. First, the power coefficient describes aerodynamic capture at a particular operating condition. Second, downstream efficiency describes mechanical and electrical conversion losses. Third, capacity factor describes energy production over time. Capacity factor is actual energy divided by rated power multiplied by the period length. It is not the fraction of wind energy converted into electricity. For example, assume a three-megawatt turbine has an annual capacity factor of thirty-five percent. Over a non-leap year, three megawatts multiplied by eight thousand seven hundred and sixty hours and zero point three five gives about nine point two gigawatt-hours. The thirty-five percent value is an assumption, not a universal industry average. Actual annual output depends on the wind distribution, turbine design, wake effects, availability, electrical losses, and curtailment. This is why two turbines with the same rating may generate different amounts of energy. We have now covered the conversion process and equipment. I will hand over to my partner to explain what happens when the wind farm becomes part of the grid.</a:t>
            </a:r>
          </a:p>
          <a:p/>
          <a:p>
            <a:r>
              <a:t>中文提示</a:t>
            </a:r>
          </a:p>
          <a:p>
            <a:r>
              <a:t>风机效率不等于容量因子。示例3MW和35%均是假设，8760小时为非闰年。提到尾流、可利用率、限电、电损都会影响年发电量。此页结束交接。</a:t>
            </a:r>
          </a:p>
          <a:p/>
          <a:p>
            <a:r>
              <a:t>Sources</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Presenter B | 10:00–11:50</a:t>
            </a:r>
          </a:p>
          <a:p/>
          <a:p>
            <a:r>
              <a:t>ENGLISH SCRIPT</a:t>
            </a:r>
          </a:p>
          <a:p>
            <a:r>
              <a:t>Thank you. Our course explains that frequency is closely linked to the balance between generation and demand, including losses. It also explains how reactive-power control supports voltage. These ideas are relevant to wind, but we must apply them to the correct equipment. A directly connected synchronous generator has rotor dynamics and excitation control. A full-converter wind turbine connects its generator to the grid through power electronics, so its generator speed is not directly tied to grid frequency in the same way. The converter and plant controller can regulate active and reactive power within their capability limits. Reactive-power commands can support voltage at the point of connection, subject to current limits and the network conditions. Frequency support needs a more careful explanation. A turbine may briefly release stored rotational energy, but that energy is finite and must be recovered. Sustained upward response requires available wind and operating headroom, or another energy source such as storage. If the turbine is already extracting the available maximum power, it cannot promise unlimited extra output. The frequency-control lecture also distinguishes primary response from secondary restoration. Participating wind plants can contribute through suitable controls, but conventional governor and excitation diagrams should not simply be copied onto every wind-turbine architecture.</a:t>
            </a:r>
          </a:p>
          <a:p/>
          <a:p>
            <a:r>
              <a:t>中文提示</a:t>
            </a:r>
          </a:p>
          <a:p>
            <a:r>
              <a:t>这页与课件建立联系：有功/频率、无功/电压是有用的一阶理解，不能当绝对解耦。风机不直接照搬同步发电机的励磁AVR。惯性响应短时可用但需恢复；持续增发要预留功率且有风。</a:t>
            </a:r>
          </a:p>
          <a:p/>
          <a:p>
            <a:r>
              <a:t>Sources</a:t>
            </a:r>
          </a:p>
          <a:p>
            <a:r>
              <a:t>C1: Mehrjerdi, H. Course slides: 1–Introduction.pdf, PDF pp. 17–19 and 27. </a:t>
            </a:r>
          </a:p>
          <a:p>
            <a:r>
              <a:t>C2: Mehrjerdi, H. Course slides: 2–Voltage Control.pdf, PDF pp. 17–21 and 33. </a:t>
            </a:r>
          </a:p>
          <a:p>
            <a:r>
              <a:t>C3: Mehrjerdi, H. Course slides: 3–Frequency Control.pdf, PDF pp. 12–13 and 24–29. </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Presenter B | 11:50–13:30</a:t>
            </a:r>
          </a:p>
          <a:p/>
          <a:p>
            <a:r>
              <a:t>ENGLISH SCRIPT</a:t>
            </a:r>
          </a:p>
          <a:p>
            <a:r>
              <a:t>Wind generation has no fuel combustion during operation, but a fair environmental comparison uses the whole life cycle. That includes materials, manufacturing, construction, maintenance, and end of life. The IPCC's twenty-fourteen assessment reported a literature median of about eleven grams of carbon-dioxide equivalent per kilowatt-hour for onshore wind. In the same table, the medians were about four hundred and ninety for gas combined cycle and eight hundred and twenty for pulverized coal. These are historical literature medians, not measurements of every plant and not current-year averages. The chart therefore illustrates the scale of the difference rather than an exact prediction for a particular project. Local impacts still require attention. Turbines may affect birds and bats; noise and visual impacts can concern nearby communities; and construction requires materials and land. The total wind-farm area should not be confused with the land directly occupied by infrastructure, because some activities can coexist between turbines. Good practice includes careful site selection, ecological monitoring, targeted curtailment where appropriate, community engagement, and realistic plans for recycling or disposing of components.</a:t>
            </a:r>
          </a:p>
          <a:p/>
          <a:p>
            <a:r>
              <a:t>中文提示</a:t>
            </a:r>
          </a:p>
          <a:p>
            <a:r>
              <a:t>图是IPCC 2014汇总的全生命周期中位数，不是最新监测，也不是每座电厂的排放。关注鸟/蝙蝠、噪声和材料，不能称“完全清洁”。土地直占面积≠整个风场范围。</a:t>
            </a:r>
          </a:p>
          <a:p/>
          <a:p>
            <a:r>
              <a:t>Sources</a:t>
            </a:r>
          </a:p>
          <a:p>
            <a:r>
              <a:t>R5: IPCC. (2014). Climate Change 2014: Mitigation of Climate Change. Annex III, Table A.III.2. https://www.ipcc.ch/site/assets/uploads/2018/02/ipcc_wg3_ar5_annex-iii.pdf</a:t>
            </a:r>
          </a:p>
          <a:p>
            <a:r>
              <a:t>R7: Denholm, P., Hand, M., Jackson, M., &amp; Ong, S. (2009). Land-Use Requirements of Modern Wind Power Plants in the United States. NREL/TP-6A2-45834. https://www.nrel.gov/docs/fy09osti/45834.pdf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Presenter B | 13:30–14:50</a:t>
            </a:r>
          </a:p>
          <a:p/>
          <a:p>
            <a:r>
              <a:t>ENGLISH SCRIPT</a:t>
            </a:r>
          </a:p>
          <a:p>
            <a:r>
              <a:t>For the global picture, we use a dated benchmark rather than claiming a live statistic. IRENA's Renewable Capacity Statistics twenty-twenty-five reports global installed wind capacity of roughly one point one three terawatts at the end of twenty-twenty-four. China is the largest national market by installed wind capacity, while the United States and Europe also have substantial wind fleets. Geography matters because the quality of the wind resource, available land or sea area, transmission access, and permitting conditions vary. Europe’s North Sea region is a useful example of offshore development, whereas large onshore projects are important in several other markets. We should also interpret the number correctly. Installed capacity measures rated power, not annual electricity generation. It does not tell us how much energy was produced, when it was produced, or how much output was available during a system peak. Those questions require capacity factors, production profiles, and system-level analysis.</a:t>
            </a:r>
          </a:p>
          <a:p/>
          <a:p>
            <a:r>
              <a:t>中文提示</a:t>
            </a:r>
          </a:p>
          <a:p>
            <a:r>
              <a:t>用IRENA 2025报告的2024年底口径，不称为2026“最新数据”。装机容量是功率不是发电量，更不是保证全天可供电功率；不要混GW/GWh。</a:t>
            </a:r>
          </a:p>
          <a:p/>
          <a:p>
            <a:r>
              <a:t>Sources</a:t>
            </a:r>
          </a:p>
          <a:p>
            <a:r>
              <a:t>R4: IRENA. (2025). Renewable Capacity Statistics 2025. https://www.irena.org/Publications/2025/Mar/Renewable-capacity-statistics-2025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Presenter B | 14:50–16:20</a:t>
            </a:r>
          </a:p>
          <a:p/>
          <a:p>
            <a:r>
              <a:t>ENGLISH SCRIPT</a:t>
            </a:r>
          </a:p>
          <a:p>
            <a:r>
              <a:t>For our regional example, we have chosen China. This is an example region for the presentation, rather than a region specified in the assignment. Large onshore wind resources are available in northern and western areas, while major electricity demand is concentrated in other parts of the country. This creates a transmission challenge: a good resource location is not automatically close to a suitable grid connection or the final consumer. Coastal provinces also develop offshore wind, which can place generation closer to important coastal load centres, although marine construction and maintenance add complexity. The lesson is that building turbines is only one part of successful deployment. Forecasting helps operators prepare for changing output. Transmission moves energy between regions. Flexible generation, demand response, storage, and interconnection help the system absorb variability. These options should be selected according to the actual system need; storage is not automatically required at every individual wind farm. Regional success therefore depends on delivering useful energy reliably, not simply increasing the nameplate capacity recorded in a statistics table.</a:t>
            </a:r>
          </a:p>
          <a:p/>
          <a:p>
            <a:r>
              <a:t>中文提示</a:t>
            </a:r>
          </a:p>
          <a:p>
            <a:r>
              <a:t>区域案例选择中国，属于本稿选择而非老师指定。讲资源与负荷空间分布、输电、预测和调节；避免没有出处的地区占比、成本、限电率数字。</a:t>
            </a:r>
          </a:p>
          <a:p/>
          <a:p>
            <a:r>
              <a:t>Sources</a:t>
            </a:r>
          </a:p>
          <a:p>
            <a:r>
              <a:t>R4: IRENA. (2025). Renewable Capacity Statistics 2025. https://www.irena.org/Publications/2025/Mar/Renewable-capacity-statistics-2025</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Presenter B | 16:20–18:10</a:t>
            </a:r>
          </a:p>
          <a:p/>
          <a:p>
            <a:r>
              <a:t>ENGLISH SCRIPT</a:t>
            </a:r>
          </a:p>
          <a:p>
            <a:r>
              <a:t>Hornsea Two is a useful real-world example of an offshore wind power plant in the United Kingdom. The developer reports that the project became fully operational in twenty-twenty-two. It uses one hundred and sixty-five turbines rated at eight megawatts each. Multiplying those numbers gives one thousand three hundred and twenty megawatts, commonly described as approximately one point three gigawatts. That is the rated capacity of the turbines, not a guarantee of continuous output. The simplified diagram shows the functional arrangement rather than the actual engineering design. Turbines feed a collection network. Offshore electrical infrastructure combines their output, and export cables carry electricity toward the onshore grid connection. This arrangement demonstrates why offshore wind is a complete plant-design problem. Engineers need reliable marine foundations, cable systems, protection, communication, and maintenance access. Strong wind resources and large turbines create an opportunity for substantial energy production, but the project also faces weather constraints, demanding installation conditions, and expensive repairs. The case links our earlier topics together: aerodynamic conversion takes place at each turbine, while electrical coordination and grid integration take place across the whole wind farm. We do not estimate Hornsea Two’s annual generation here because that would require a project-specific production figure or an explicitly justified capacity factor.</a:t>
            </a:r>
          </a:p>
          <a:p/>
          <a:p>
            <a:r>
              <a:t>中文提示</a:t>
            </a:r>
          </a:p>
          <a:p>
            <a:r>
              <a:t>英国Hornsea 2案例：2022全面投运、165台×8MW=1320MW。图为原创简化示意，不是官方地理或工程接线图。不把额定容量当全年输出，不标“全球最大”以免过时。</a:t>
            </a:r>
          </a:p>
          <a:p/>
          <a:p>
            <a:r>
              <a:t>Sources</a:t>
            </a:r>
          </a:p>
          <a:p>
            <a:r>
              <a:t>R6: Ørsted. Hornsea 2: project information. https://hornseaproject2.co.uk/</a:t>
            </a:r>
          </a:p>
          <a:p>
            <a:r>
              <a:t>R3: Burton, T., Jenkins, N., Sharpe, D., &amp; Bossanyi, E. (2011). Wind Energy Handbook (2nd ed.). Wiley. https://doi.org/10.1002/9781119992714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Presenter B | 18:10–19:20</a:t>
            </a:r>
          </a:p>
          <a:p/>
          <a:p>
            <a:r>
              <a:t>ENGLISH SCRIPT</a:t>
            </a:r>
          </a:p>
          <a:p>
            <a:r>
              <a:t>The strongest comparison asks what service each technology provides and what constraints it faces. Wind offers low life-cycle emissions and no fuel purchase during generation, but its output follows a variable resource. Gas plants can adjust output within operating limits, but they require fuel and produce emissions. Solar photovoltaics are modular and low-carbon, but their resource depends on daylight and weather. Reservoir hydropower can be flexible where water is available, yet suitable sites are limited and projects can have major ecological impacts. These technologies are not identical substitutes in every hour. We must consider energy, dependable capacity, flexibility, environmental effects, and grid services together. Wind is therefore valuable as part of a well-designed generation portfolio, rather than because it wins every comparison by itself.</a:t>
            </a:r>
          </a:p>
          <a:p/>
          <a:p>
            <a:r>
              <a:t>中文提示</a:t>
            </a:r>
          </a:p>
          <a:p>
            <a:r>
              <a:t>比较有利与限制，不说风电全面替代其他机组。水电特指水库式，不能把所有径流式水电都说成可灵活调度。不要给未经核实的LCOE成本排名。</a:t>
            </a:r>
          </a:p>
          <a:p/>
          <a:p>
            <a:r>
              <a:t>Sources</a:t>
            </a:r>
          </a:p>
          <a:p>
            <a:r>
              <a:t>R1: U.S. Department of Energy. How Do Wind Turbines Work? https://www.energy.gov/eere/wind/how-do-wind-turbines-work</a:t>
            </a:r>
          </a:p>
          <a:p>
            <a:r>
              <a:t>R3: Burton, T., Jenkins, N., Sharpe, D., &amp; Bossanyi, E. (2011). Wind Energy Handbook (2nd ed.). Wiley. https://doi.org/10.1002/9781119992714</a:t>
            </a:r>
          </a:p>
          <a:p>
            <a:r>
              <a:t>R5: IPCC. (2014). Climate Change 2014: Mitigation of Climate Change. Annex III, Table A.III.2. https://www.ipcc.ch/site/assets/uploads/2018/02/ipcc_wg3_ar5_annex-iii.pdf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Presenter B | 19:20–20:00</a:t>
            </a:r>
          </a:p>
          <a:p/>
          <a:p>
            <a:r>
              <a:t>ENGLISH SCRIPT</a:t>
            </a:r>
          </a:p>
          <a:p>
            <a:r>
              <a:t>To conclude, wind power combines a renewable resource with controlled energy-conversion equipment. Its performance must be assessed using both conversion metrics and energy production over time; capacity factor is not efficiency. Finally, wind’s low-carbon benefit is strongest when projects are responsibly sited and properly integrated into the power system. The key question is not only whether a turbine can generate electricity, but how the whole plant delivers useful electricity safely and reliably. Thank you for listening. We are happy to take your questions.</a:t>
            </a:r>
          </a:p>
          <a:p/>
          <a:p>
            <a:r>
              <a:t>中文提示</a:t>
            </a:r>
          </a:p>
          <a:p>
            <a:r>
              <a:t>三句收束：原理、性能指标、电网和环境。邀请提问后进入单独10分钟问答；参考文献与备份页不计入20分钟。</a:t>
            </a:r>
          </a:p>
          <a:p/>
          <a:p>
            <a:r>
              <a:t>Sources</a:t>
            </a:r>
          </a:p>
          <a:p>
            <a:r>
              <a:t>R3: Burton, T., Jenkins, N., Sharpe, D., &amp; Bossanyi, E. (2011). Wind Energy Handbook (2nd ed.). Wiley. https://doi.org/10.1002/9781119992714</a:t>
            </a:r>
          </a:p>
          <a:p>
            <a:r>
              <a:t>C2: Mehrjerdi, H. Course slides: 2–Voltage Control.pdf, PDF pp. 17–21 and 33. </a:t>
            </a:r>
          </a:p>
          <a:p>
            <a:r>
              <a:t>C3: Mehrjerdi, H. Course slides: 3–Frequency Control.pdf, PDF pp. 12–13 and 24–29.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slides are not part of the 20-minute talk. External source websites were blocked by the environment network policy, so links were not independently opened here. No direct quotations or claims of online verification are made. Course-slide page numbers are PDF page numbers.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slides are not part of the 20-minute talk. External source websites were blocked by the environment network policy, so links were not independently opened here. No direct quotations or claims of online verification are made. Course-slide page numbers are PDF page numbers.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only. Wind power: ½ × 1.225 × π × 60² × 8³ ≈ 3.55 MW Electrical output: 3.55 × 0.45 × 0.94 ≈ 1.50 MW Annual energy: 3 MW × 8,760 h × 0.35 ≈ 9,198 MWh Interpretation: All example inputs are assumptions; no measured turbine curve.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only. Frequency support: Finite rotor-energy release ≠ sustained upward reserve. Headroom: Deloading can leave room to increase output if wind is available. Voltage support: Reactive-power support is bounded by converter capability. Architecture: Excitation-based AVR applies to synchronous machines; designs vary.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only. Rated capacity: 1.3 GW does not mean constant 1.3 GW output. Carbon: No operational combustion ≠ zero life-cycle emissions. Land area: Direct footprint ≠ total wind-farm project area. Flexibility: A dedicated battery is not mandatory for every wind farm.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nergy.gov/eere/wind/how-do-wind-turbines-work" TargetMode="External"/><Relationship Id="rId3" Type="http://schemas.openxmlformats.org/officeDocument/2006/relationships/hyperlink" Target="https://www.energy.gov/eere/wind/inside-wind-turbine" TargetMode="External"/><Relationship Id="rId4" Type="http://schemas.openxmlformats.org/officeDocument/2006/relationships/hyperlink" Target="https://doi.org/10.1002/9781119992714" TargetMode="External"/><Relationship Id="rId5" Type="http://schemas.openxmlformats.org/officeDocument/2006/relationships/hyperlink" Target="https://www.irena.org/Publications/2025/Mar/Renewable-capacity-statistics-2025" TargetMode="Externa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pcc.ch/site/assets/uploads/2018/02/ipcc_wg3_ar5_annex-iii.pdf" TargetMode="External"/><Relationship Id="rId3" Type="http://schemas.openxmlformats.org/officeDocument/2006/relationships/hyperlink" Target="https://hornseaproject2.co.uk/" TargetMode="External"/><Relationship Id="rId4" Type="http://schemas.openxmlformats.org/officeDocument/2006/relationships/hyperlink" Target="https://www.nrel.gov/docs/fy09osti/45834.pdf"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Wind Power Plants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From moving air to grid-supporting electricity</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R1</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01</a:t>
            </a:r>
          </a:p>
        </p:txBody>
      </p:sp>
      <p:sp>
        <p:nvSpPr>
          <p:cNvPr id="8" name="Rectangle 7"/>
          <p:cNvSpPr/>
          <p:nvPr/>
        </p:nvSpPr>
        <p:spPr>
          <a:xfrm>
            <a:off x="0" y="118872"/>
            <a:ext cx="12191695" cy="6208776"/>
          </a:xfrm>
          <a:prstGeom prst="rect">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02920"/>
            <a:ext cx="7315200" cy="411480"/>
          </a:xfrm>
          <a:prstGeom prst="rect">
            <a:avLst/>
          </a:prstGeom>
          <a:noFill/>
        </p:spPr>
        <p:txBody>
          <a:bodyPr wrap="square" lIns="27432" rIns="27432" tIns="18288" bIns="18288">
            <a:spAutoFit/>
          </a:bodyPr>
          <a:lstStyle/>
          <a:p>
            <a:pPr algn="l">
              <a:spcAft>
                <a:spcPts val="500"/>
              </a:spcAft>
              <a:defRPr sz="1500" b="1">
                <a:solidFill>
                  <a:srgbClr val="79D2CE"/>
                </a:solidFill>
                <a:latin typeface="Arial"/>
              </a:defRPr>
            </a:pPr>
            <a:r>
              <a:t>ELECTRIC POWER GENERATION · GROUP A</a:t>
            </a:r>
          </a:p>
        </p:txBody>
      </p:sp>
      <p:sp>
        <p:nvSpPr>
          <p:cNvPr id="10" name="TextBox 9"/>
          <p:cNvSpPr txBox="1"/>
          <p:nvPr/>
        </p:nvSpPr>
        <p:spPr>
          <a:xfrm>
            <a:off x="594360" y="1325880"/>
            <a:ext cx="8229600" cy="914400"/>
          </a:xfrm>
          <a:prstGeom prst="rect">
            <a:avLst/>
          </a:prstGeom>
          <a:noFill/>
        </p:spPr>
        <p:txBody>
          <a:bodyPr wrap="square" lIns="27432" rIns="27432" tIns="18288" bIns="18288">
            <a:spAutoFit/>
          </a:bodyPr>
          <a:lstStyle/>
          <a:p>
            <a:pPr algn="l">
              <a:spcAft>
                <a:spcPts val="500"/>
              </a:spcAft>
              <a:defRPr sz="4400" b="1">
                <a:solidFill>
                  <a:srgbClr val="FFFFFF"/>
                </a:solidFill>
                <a:latin typeface="Arial"/>
              </a:defRPr>
            </a:pPr>
            <a:r>
              <a:t>Wind Power Plants</a:t>
            </a:r>
          </a:p>
        </p:txBody>
      </p:sp>
      <p:sp>
        <p:nvSpPr>
          <p:cNvPr id="11" name="TextBox 10"/>
          <p:cNvSpPr txBox="1"/>
          <p:nvPr/>
        </p:nvSpPr>
        <p:spPr>
          <a:xfrm>
            <a:off x="621792" y="2377440"/>
            <a:ext cx="7315200" cy="914400"/>
          </a:xfrm>
          <a:prstGeom prst="rect">
            <a:avLst/>
          </a:prstGeom>
          <a:noFill/>
        </p:spPr>
        <p:txBody>
          <a:bodyPr wrap="square" lIns="27432" rIns="27432" tIns="18288" bIns="18288">
            <a:spAutoFit/>
          </a:bodyPr>
          <a:lstStyle/>
          <a:p>
            <a:pPr algn="l">
              <a:spcAft>
                <a:spcPts val="500"/>
              </a:spcAft>
              <a:defRPr sz="2700" b="0">
                <a:solidFill>
                  <a:srgbClr val="B8CDD9"/>
                </a:solidFill>
                <a:latin typeface="Arial"/>
              </a:defRPr>
            </a:pPr>
            <a:r>
              <a:t>From moving air to</a:t>
            </a:r>
          </a:p>
          <a:p>
            <a:pPr algn="l">
              <a:spcAft>
                <a:spcPts val="500"/>
              </a:spcAft>
              <a:defRPr sz="2700" b="0">
                <a:solidFill>
                  <a:srgbClr val="B8CDD9"/>
                </a:solidFill>
                <a:latin typeface="Arial"/>
              </a:defRPr>
            </a:pPr>
            <a:r>
              <a:t>grid-supporting electricity</a:t>
            </a:r>
          </a:p>
        </p:txBody>
      </p:sp>
      <p:sp>
        <p:nvSpPr>
          <p:cNvPr id="12" name="TextBox 11"/>
          <p:cNvSpPr txBox="1"/>
          <p:nvPr/>
        </p:nvSpPr>
        <p:spPr>
          <a:xfrm>
            <a:off x="640080" y="3977639"/>
            <a:ext cx="6858000" cy="822960"/>
          </a:xfrm>
          <a:prstGeom prst="rect">
            <a:avLst/>
          </a:prstGeom>
          <a:noFill/>
        </p:spPr>
        <p:txBody>
          <a:bodyPr wrap="square" lIns="27432" rIns="27432" tIns="18288" bIns="18288">
            <a:spAutoFit/>
          </a:bodyPr>
          <a:lstStyle/>
          <a:p>
            <a:pPr algn="l">
              <a:spcAft>
                <a:spcPts val="500"/>
              </a:spcAft>
              <a:defRPr sz="2000" b="0">
                <a:solidFill>
                  <a:srgbClr val="FFFFFF"/>
                </a:solidFill>
                <a:latin typeface="Arial"/>
              </a:defRPr>
            </a:pPr>
            <a:r>
              <a:t>20-minute presentation · two presenters</a:t>
            </a:r>
          </a:p>
          <a:p>
            <a:pPr algn="l">
              <a:spcAft>
                <a:spcPts val="500"/>
              </a:spcAft>
              <a:defRPr sz="2000" b="0">
                <a:solidFill>
                  <a:srgbClr val="FFFFFF"/>
                </a:solidFill>
                <a:latin typeface="Arial"/>
              </a:defRPr>
            </a:pPr>
            <a:r>
              <a:t>10-minute discussion follows</a:t>
            </a:r>
          </a:p>
        </p:txBody>
      </p:sp>
      <p:sp>
        <p:nvSpPr>
          <p:cNvPr id="13" name="TextBox 12"/>
          <p:cNvSpPr txBox="1"/>
          <p:nvPr/>
        </p:nvSpPr>
        <p:spPr>
          <a:xfrm>
            <a:off x="640080" y="5212080"/>
            <a:ext cx="6583680" cy="594360"/>
          </a:xfrm>
          <a:prstGeom prst="rect">
            <a:avLst/>
          </a:prstGeom>
          <a:noFill/>
        </p:spPr>
        <p:txBody>
          <a:bodyPr wrap="square" lIns="27432" rIns="27432" tIns="18288" bIns="18288">
            <a:spAutoFit/>
          </a:bodyPr>
          <a:lstStyle/>
          <a:p>
            <a:pPr algn="l">
              <a:spcAft>
                <a:spcPts val="500"/>
              </a:spcAft>
              <a:defRPr sz="1600" b="0">
                <a:solidFill>
                  <a:srgbClr val="B8CDD9"/>
                </a:solidFill>
                <a:latin typeface="Arial"/>
              </a:defRPr>
            </a:pPr>
            <a:r>
              <a:t>Presenter A: technology &amp; performance</a:t>
            </a:r>
          </a:p>
          <a:p>
            <a:pPr algn="l">
              <a:spcAft>
                <a:spcPts val="500"/>
              </a:spcAft>
              <a:defRPr sz="1600" b="0">
                <a:solidFill>
                  <a:srgbClr val="B8CDD9"/>
                </a:solidFill>
                <a:latin typeface="Arial"/>
              </a:defRPr>
            </a:pPr>
            <a:r>
              <a:t>Presenter B: grid, impacts &amp; applications</a:t>
            </a:r>
          </a:p>
        </p:txBody>
      </p:sp>
      <p:cxnSp>
        <p:nvCxnSpPr>
          <p:cNvPr id="14" name="Connector 13"/>
          <p:cNvCxnSpPr/>
          <p:nvPr/>
        </p:nvCxnSpPr>
        <p:spPr>
          <a:xfrm>
            <a:off x="9692640" y="2871216"/>
            <a:ext cx="0" cy="2592324"/>
          </a:xfrm>
          <a:prstGeom prst="line">
            <a:avLst/>
          </a:prstGeom>
          <a:ln w="63500">
            <a:solidFill>
              <a:srgbClr val="5C6F7E"/>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612630" y="2754630"/>
            <a:ext cx="160020" cy="160020"/>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9692640" y="1634490"/>
            <a:ext cx="0" cy="1200150"/>
          </a:xfrm>
          <a:prstGeom prst="line">
            <a:avLst/>
          </a:prstGeom>
          <a:ln w="142875">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692640" y="2834640"/>
            <a:ext cx="1039360" cy="600075"/>
          </a:xfrm>
          <a:prstGeom prst="line">
            <a:avLst/>
          </a:prstGeom>
          <a:ln w="142875">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8653279" y="2834640"/>
            <a:ext cx="1039361" cy="600075"/>
          </a:xfrm>
          <a:prstGeom prst="line">
            <a:avLst/>
          </a:prstGeom>
          <a:ln w="142875">
            <a:solidFill>
              <a:srgbClr val="008D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What makes wind a power-plant resource?</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Renewable input, variable output, coordinated operation</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R1,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02</a:t>
            </a:r>
          </a:p>
        </p:txBody>
      </p:sp>
      <p:sp>
        <p:nvSpPr>
          <p:cNvPr id="8" name="Rectangle 7"/>
          <p:cNvSpPr/>
          <p:nvPr/>
        </p:nvSpPr>
        <p:spPr>
          <a:xfrm>
            <a:off x="548640" y="1810512"/>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737360"/>
            <a:ext cx="6263640" cy="932688"/>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Fuel source: the kinetic energy of moving air</a:t>
            </a:r>
          </a:p>
        </p:txBody>
      </p:sp>
      <p:sp>
        <p:nvSpPr>
          <p:cNvPr id="10" name="Rectangle 9"/>
          <p:cNvSpPr/>
          <p:nvPr/>
        </p:nvSpPr>
        <p:spPr>
          <a:xfrm>
            <a:off x="548640" y="2834640"/>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761488"/>
            <a:ext cx="6263640" cy="932688"/>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No fuel combustion during electricity generation</a:t>
            </a:r>
          </a:p>
        </p:txBody>
      </p:sp>
      <p:sp>
        <p:nvSpPr>
          <p:cNvPr id="12" name="Rectangle 11"/>
          <p:cNvSpPr/>
          <p:nvPr/>
        </p:nvSpPr>
        <p:spPr>
          <a:xfrm>
            <a:off x="548640" y="3858768"/>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3785616"/>
            <a:ext cx="6263640" cy="932688"/>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Onshore and offshore plants share the same basic principle</a:t>
            </a:r>
          </a:p>
        </p:txBody>
      </p:sp>
      <p:sp>
        <p:nvSpPr>
          <p:cNvPr id="14" name="Rectangle 13"/>
          <p:cNvSpPr/>
          <p:nvPr/>
        </p:nvSpPr>
        <p:spPr>
          <a:xfrm>
            <a:off x="548640" y="4882896"/>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4809744"/>
            <a:ext cx="6263640" cy="932688"/>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Available power depends on wind speed and site conditions</a:t>
            </a:r>
          </a:p>
        </p:txBody>
      </p:sp>
      <p:sp>
        <p:nvSpPr>
          <p:cNvPr id="16" name="Rounded Rectangle 15"/>
          <p:cNvSpPr/>
          <p:nvPr/>
        </p:nvSpPr>
        <p:spPr>
          <a:xfrm>
            <a:off x="7635240" y="1920240"/>
            <a:ext cx="3931920" cy="3474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35240" y="1920240"/>
            <a:ext cx="54864" cy="347472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19" y="2084832"/>
            <a:ext cx="356616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WIND RESOURCE</a:t>
            </a:r>
          </a:p>
        </p:txBody>
      </p:sp>
      <p:sp>
        <p:nvSpPr>
          <p:cNvPr id="19" name="TextBox 18"/>
          <p:cNvSpPr txBox="1"/>
          <p:nvPr/>
        </p:nvSpPr>
        <p:spPr>
          <a:xfrm>
            <a:off x="7818119" y="2697480"/>
            <a:ext cx="3566160" cy="2606039"/>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No combustion input</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Available wind changes</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Plant control adds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The working principle: lift creates torque</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Energy conversion begins at the blades</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R1,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03</a:t>
            </a:r>
          </a:p>
        </p:txBody>
      </p:sp>
      <p:cxnSp>
        <p:nvCxnSpPr>
          <p:cNvPr id="8" name="Connector 7"/>
          <p:cNvCxnSpPr/>
          <p:nvPr/>
        </p:nvCxnSpPr>
        <p:spPr>
          <a:xfrm>
            <a:off x="2377440" y="2871216"/>
            <a:ext cx="0" cy="1814169"/>
          </a:xfrm>
          <a:prstGeom prst="line">
            <a:avLst/>
          </a:prstGeom>
          <a:ln w="63500">
            <a:solidFill>
              <a:srgbClr val="5C6F7E"/>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21112" y="2778312"/>
            <a:ext cx="112654" cy="112654"/>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2377440" y="1989734"/>
            <a:ext cx="0" cy="844906"/>
          </a:xfrm>
          <a:prstGeom prst="line">
            <a:avLst/>
          </a:prstGeom>
          <a:ln w="100584">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377440" y="2834640"/>
            <a:ext cx="731709" cy="422452"/>
          </a:xfrm>
          <a:prstGeom prst="line">
            <a:avLst/>
          </a:prstGeom>
          <a:ln w="100584">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645730" y="2834640"/>
            <a:ext cx="731710" cy="422452"/>
          </a:xfrm>
          <a:prstGeom prst="line">
            <a:avLst/>
          </a:prstGeom>
          <a:ln w="100584">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360" y="2377440"/>
            <a:ext cx="685800" cy="0"/>
          </a:xfrm>
          <a:prstGeom prst="line">
            <a:avLst/>
          </a:prstGeom>
          <a:ln w="25400">
            <a:solidFill>
              <a:srgbClr val="E9A74B"/>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1179575" y="2295144"/>
            <a:ext cx="164592" cy="164592"/>
          </a:xfrm>
          <a:prstGeom prst="chevron">
            <a:avLst/>
          </a:prstGeom>
          <a:solidFill>
            <a:srgbClr val="E9A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594360" y="2834640"/>
            <a:ext cx="685800" cy="0"/>
          </a:xfrm>
          <a:prstGeom prst="line">
            <a:avLst/>
          </a:prstGeom>
          <a:ln w="25400">
            <a:solidFill>
              <a:srgbClr val="E9A74B"/>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1179575" y="2752344"/>
            <a:ext cx="164592" cy="164592"/>
          </a:xfrm>
          <a:prstGeom prst="chevron">
            <a:avLst/>
          </a:prstGeom>
          <a:solidFill>
            <a:srgbClr val="E9A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94360" y="3291840"/>
            <a:ext cx="685800" cy="0"/>
          </a:xfrm>
          <a:prstGeom prst="line">
            <a:avLst/>
          </a:prstGeom>
          <a:ln w="25400">
            <a:solidFill>
              <a:srgbClr val="E9A74B"/>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1179575" y="3209544"/>
            <a:ext cx="164592" cy="164592"/>
          </a:xfrm>
          <a:prstGeom prst="chevron">
            <a:avLst/>
          </a:prstGeom>
          <a:solidFill>
            <a:srgbClr val="E9A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31920"/>
            <a:ext cx="1005840" cy="457200"/>
          </a:xfrm>
          <a:prstGeom prst="rect">
            <a:avLst/>
          </a:prstGeom>
          <a:noFill/>
        </p:spPr>
        <p:txBody>
          <a:bodyPr wrap="square" lIns="27432" rIns="27432" tIns="18288" bIns="18288">
            <a:spAutoFit/>
          </a:bodyPr>
          <a:lstStyle/>
          <a:p>
            <a:pPr algn="l">
              <a:spcAft>
                <a:spcPts val="500"/>
              </a:spcAft>
              <a:defRPr sz="1800" b="1">
                <a:solidFill>
                  <a:srgbClr val="E9A74B"/>
                </a:solidFill>
                <a:latin typeface="Arial"/>
              </a:defRPr>
            </a:pPr>
            <a:r>
              <a:t>Wind</a:t>
            </a:r>
          </a:p>
        </p:txBody>
      </p:sp>
      <p:sp>
        <p:nvSpPr>
          <p:cNvPr id="20" name="TextBox 19"/>
          <p:cNvSpPr txBox="1"/>
          <p:nvPr/>
        </p:nvSpPr>
        <p:spPr>
          <a:xfrm>
            <a:off x="3337560" y="1920240"/>
            <a:ext cx="8138160" cy="822960"/>
          </a:xfrm>
          <a:prstGeom prst="rect">
            <a:avLst/>
          </a:prstGeom>
          <a:noFill/>
        </p:spPr>
        <p:txBody>
          <a:bodyPr wrap="square" lIns="27432" rIns="27432" tIns="18288" bIns="18288">
            <a:spAutoFit/>
          </a:bodyPr>
          <a:lstStyle/>
          <a:p>
            <a:pPr algn="l">
              <a:spcAft>
                <a:spcPts val="500"/>
              </a:spcAft>
              <a:defRPr sz="2700" b="1">
                <a:solidFill>
                  <a:srgbClr val="008D91"/>
                </a:solidFill>
                <a:latin typeface="Arial"/>
              </a:defRPr>
            </a:pPr>
            <a:r>
              <a:t>Lift → tangential force → rotor torque</a:t>
            </a:r>
          </a:p>
        </p:txBody>
      </p:sp>
      <p:sp>
        <p:nvSpPr>
          <p:cNvPr id="21" name="Rounded Rectangle 20"/>
          <p:cNvSpPr/>
          <p:nvPr/>
        </p:nvSpPr>
        <p:spPr>
          <a:xfrm>
            <a:off x="3474720" y="3154680"/>
            <a:ext cx="2286000" cy="1234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3291840"/>
            <a:ext cx="2103120" cy="384048"/>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ROTOR</a:t>
            </a:r>
          </a:p>
        </p:txBody>
      </p:sp>
      <p:sp>
        <p:nvSpPr>
          <p:cNvPr id="23" name="TextBox 22"/>
          <p:cNvSpPr txBox="1"/>
          <p:nvPr/>
        </p:nvSpPr>
        <p:spPr>
          <a:xfrm>
            <a:off x="3566160" y="3749039"/>
            <a:ext cx="2103120" cy="457200"/>
          </a:xfrm>
          <a:prstGeom prst="rect">
            <a:avLst/>
          </a:prstGeom>
          <a:noFill/>
        </p:spPr>
        <p:txBody>
          <a:bodyPr wrap="square" lIns="27432" rIns="27432" tIns="18288" bIns="18288">
            <a:spAutoFit/>
          </a:bodyPr>
          <a:lstStyle/>
          <a:p>
            <a:pPr algn="l">
              <a:spcAft>
                <a:spcPts val="500"/>
              </a:spcAft>
              <a:defRPr sz="1700" b="0">
                <a:solidFill>
                  <a:srgbClr val="183247"/>
                </a:solidFill>
                <a:latin typeface="Arial"/>
              </a:defRPr>
            </a:pPr>
            <a:r>
              <a:t>Mechanical power</a:t>
            </a:r>
          </a:p>
        </p:txBody>
      </p:sp>
      <p:cxnSp>
        <p:nvCxnSpPr>
          <p:cNvPr id="24" name="Connector 23"/>
          <p:cNvCxnSpPr/>
          <p:nvPr/>
        </p:nvCxnSpPr>
        <p:spPr>
          <a:xfrm>
            <a:off x="5779008" y="3730752"/>
            <a:ext cx="338328"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6016751" y="3648456"/>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72200" y="3154680"/>
            <a:ext cx="2286000" cy="1234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291840"/>
            <a:ext cx="2103120" cy="384048"/>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GENERATOR</a:t>
            </a:r>
          </a:p>
        </p:txBody>
      </p:sp>
      <p:sp>
        <p:nvSpPr>
          <p:cNvPr id="28" name="TextBox 27"/>
          <p:cNvSpPr txBox="1"/>
          <p:nvPr/>
        </p:nvSpPr>
        <p:spPr>
          <a:xfrm>
            <a:off x="6263640" y="3749039"/>
            <a:ext cx="2103120" cy="457200"/>
          </a:xfrm>
          <a:prstGeom prst="rect">
            <a:avLst/>
          </a:prstGeom>
          <a:noFill/>
        </p:spPr>
        <p:txBody>
          <a:bodyPr wrap="square" lIns="27432" rIns="27432" tIns="18288" bIns="18288">
            <a:spAutoFit/>
          </a:bodyPr>
          <a:lstStyle/>
          <a:p>
            <a:pPr algn="l">
              <a:spcAft>
                <a:spcPts val="500"/>
              </a:spcAft>
              <a:defRPr sz="1700" b="0">
                <a:solidFill>
                  <a:srgbClr val="183247"/>
                </a:solidFill>
                <a:latin typeface="Arial"/>
              </a:defRPr>
            </a:pPr>
            <a:r>
              <a:t>Electrical power</a:t>
            </a:r>
          </a:p>
        </p:txBody>
      </p:sp>
      <p:cxnSp>
        <p:nvCxnSpPr>
          <p:cNvPr id="29" name="Connector 28"/>
          <p:cNvCxnSpPr/>
          <p:nvPr/>
        </p:nvCxnSpPr>
        <p:spPr>
          <a:xfrm>
            <a:off x="8476488" y="3730752"/>
            <a:ext cx="338328"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8714232" y="3648456"/>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869680" y="3154680"/>
            <a:ext cx="2286000" cy="1234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19" y="3291840"/>
            <a:ext cx="2103120" cy="384048"/>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GRID INTERFACE</a:t>
            </a:r>
          </a:p>
        </p:txBody>
      </p:sp>
      <p:sp>
        <p:nvSpPr>
          <p:cNvPr id="33" name="TextBox 32"/>
          <p:cNvSpPr txBox="1"/>
          <p:nvPr/>
        </p:nvSpPr>
        <p:spPr>
          <a:xfrm>
            <a:off x="8961119" y="3749039"/>
            <a:ext cx="2103120" cy="457200"/>
          </a:xfrm>
          <a:prstGeom prst="rect">
            <a:avLst/>
          </a:prstGeom>
          <a:noFill/>
        </p:spPr>
        <p:txBody>
          <a:bodyPr wrap="square" lIns="27432" rIns="27432" tIns="18288" bIns="18288">
            <a:spAutoFit/>
          </a:bodyPr>
          <a:lstStyle/>
          <a:p>
            <a:pPr algn="l">
              <a:spcAft>
                <a:spcPts val="500"/>
              </a:spcAft>
              <a:defRPr sz="1700" b="0">
                <a:solidFill>
                  <a:srgbClr val="183247"/>
                </a:solidFill>
                <a:latin typeface="Arial"/>
              </a:defRPr>
            </a:pPr>
            <a:r>
              <a:t>Grid-ready AC</a:t>
            </a:r>
          </a:p>
        </p:txBody>
      </p:sp>
      <p:sp>
        <p:nvSpPr>
          <p:cNvPr id="34" name="TextBox 33"/>
          <p:cNvSpPr txBox="1"/>
          <p:nvPr/>
        </p:nvSpPr>
        <p:spPr>
          <a:xfrm>
            <a:off x="3520440" y="4892040"/>
            <a:ext cx="7589520" cy="731520"/>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Airfoil-shaped blades extract part of the moving air’s energy.</a:t>
            </a:r>
          </a:p>
        </p:txBody>
      </p:sp>
      <p:sp>
        <p:nvSpPr>
          <p:cNvPr id="35" name="TextBox 34"/>
          <p:cNvSpPr txBox="1"/>
          <p:nvPr/>
        </p:nvSpPr>
        <p:spPr>
          <a:xfrm>
            <a:off x="548640" y="5961888"/>
            <a:ext cx="10789920" cy="274320"/>
          </a:xfrm>
          <a:prstGeom prst="rect">
            <a:avLst/>
          </a:prstGeom>
          <a:noFill/>
        </p:spPr>
        <p:txBody>
          <a:bodyPr wrap="square" lIns="27432" rIns="27432" tIns="18288" bIns="18288">
            <a:spAutoFit/>
          </a:bodyPr>
          <a:lstStyle/>
          <a:p>
            <a:pPr algn="l">
              <a:spcAft>
                <a:spcPts val="500"/>
              </a:spcAft>
              <a:defRPr sz="1200" b="0">
                <a:solidFill>
                  <a:srgbClr val="5C6F7E"/>
                </a:solidFill>
                <a:latin typeface="Arial"/>
              </a:defRPr>
            </a:pPr>
            <a:r>
              <a:t>Original schematic; not a turbine-specific engineering drawing.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Main components and system layout</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A turbine is one unit; a wind farm is an electrical system</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R2,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04</a:t>
            </a:r>
          </a:p>
        </p:txBody>
      </p:sp>
      <p:sp>
        <p:nvSpPr>
          <p:cNvPr id="8" name="Rounded Rectangle 7"/>
          <p:cNvSpPr/>
          <p:nvPr/>
        </p:nvSpPr>
        <p:spPr>
          <a:xfrm>
            <a:off x="594360" y="1737360"/>
            <a:ext cx="361188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37360"/>
            <a:ext cx="54864" cy="173736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01952"/>
            <a:ext cx="324612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Rotor</a:t>
            </a:r>
          </a:p>
        </p:txBody>
      </p:sp>
      <p:sp>
        <p:nvSpPr>
          <p:cNvPr id="11" name="TextBox 10"/>
          <p:cNvSpPr txBox="1"/>
          <p:nvPr/>
        </p:nvSpPr>
        <p:spPr>
          <a:xfrm>
            <a:off x="777240" y="2514600"/>
            <a:ext cx="3246120" cy="868680"/>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Blades + hub</a:t>
            </a:r>
          </a:p>
        </p:txBody>
      </p:sp>
      <p:sp>
        <p:nvSpPr>
          <p:cNvPr id="12" name="Rounded Rectangle 11"/>
          <p:cNvSpPr/>
          <p:nvPr/>
        </p:nvSpPr>
        <p:spPr>
          <a:xfrm>
            <a:off x="4453128" y="1737360"/>
            <a:ext cx="361188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53128" y="1737360"/>
            <a:ext cx="54864" cy="173736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1901952"/>
            <a:ext cx="324612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Nacelle</a:t>
            </a:r>
          </a:p>
        </p:txBody>
      </p:sp>
      <p:sp>
        <p:nvSpPr>
          <p:cNvPr id="15" name="TextBox 14"/>
          <p:cNvSpPr txBox="1"/>
          <p:nvPr/>
        </p:nvSpPr>
        <p:spPr>
          <a:xfrm>
            <a:off x="4636008" y="2514600"/>
            <a:ext cx="3246120" cy="868680"/>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Drive train + generator</a:t>
            </a:r>
          </a:p>
        </p:txBody>
      </p:sp>
      <p:sp>
        <p:nvSpPr>
          <p:cNvPr id="16" name="Rounded Rectangle 15"/>
          <p:cNvSpPr/>
          <p:nvPr/>
        </p:nvSpPr>
        <p:spPr>
          <a:xfrm>
            <a:off x="8311896" y="1737360"/>
            <a:ext cx="361188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11896" y="1737360"/>
            <a:ext cx="54864" cy="173736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4776" y="1901952"/>
            <a:ext cx="324612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Support</a:t>
            </a:r>
          </a:p>
        </p:txBody>
      </p:sp>
      <p:sp>
        <p:nvSpPr>
          <p:cNvPr id="19" name="TextBox 18"/>
          <p:cNvSpPr txBox="1"/>
          <p:nvPr/>
        </p:nvSpPr>
        <p:spPr>
          <a:xfrm>
            <a:off x="8494776" y="2514600"/>
            <a:ext cx="3246120" cy="868680"/>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Tower + foundation</a:t>
            </a:r>
          </a:p>
        </p:txBody>
      </p:sp>
      <p:sp>
        <p:nvSpPr>
          <p:cNvPr id="20" name="Rounded Rectangle 19"/>
          <p:cNvSpPr/>
          <p:nvPr/>
        </p:nvSpPr>
        <p:spPr>
          <a:xfrm>
            <a:off x="594360" y="4114800"/>
            <a:ext cx="1965960" cy="914400"/>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4261104"/>
            <a:ext cx="1819656" cy="640080"/>
          </a:xfrm>
          <a:prstGeom prst="rect">
            <a:avLst/>
          </a:prstGeom>
          <a:noFill/>
        </p:spPr>
        <p:txBody>
          <a:bodyPr wrap="square" lIns="27432" rIns="27432" tIns="18288" bIns="18288">
            <a:spAutoFit/>
          </a:bodyPr>
          <a:lstStyle/>
          <a:p>
            <a:pPr algn="ctr">
              <a:spcAft>
                <a:spcPts val="500"/>
              </a:spcAft>
              <a:defRPr sz="1800" b="1">
                <a:solidFill>
                  <a:srgbClr val="183247"/>
                </a:solidFill>
                <a:latin typeface="Arial"/>
              </a:defRPr>
            </a:pPr>
            <a:r>
              <a:t>Generator</a:t>
            </a:r>
          </a:p>
        </p:txBody>
      </p:sp>
      <p:cxnSp>
        <p:nvCxnSpPr>
          <p:cNvPr id="22" name="Connector 21"/>
          <p:cNvCxnSpPr/>
          <p:nvPr/>
        </p:nvCxnSpPr>
        <p:spPr>
          <a:xfrm>
            <a:off x="2560320" y="45720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2779776" y="44897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98648" y="4114800"/>
            <a:ext cx="1965960" cy="914400"/>
          </a:xfrm>
          <a:prstGeom prst="roundRect">
            <a:avLst>
              <a:gd name="adj" fmla="val 12000"/>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71800" y="4261104"/>
            <a:ext cx="1819656" cy="640080"/>
          </a:xfrm>
          <a:prstGeom prst="rect">
            <a:avLst/>
          </a:prstGeom>
          <a:noFill/>
        </p:spPr>
        <p:txBody>
          <a:bodyPr wrap="square" lIns="27432" rIns="27432" tIns="18288" bIns="18288">
            <a:spAutoFit/>
          </a:bodyPr>
          <a:lstStyle/>
          <a:p>
            <a:pPr algn="ctr">
              <a:spcAft>
                <a:spcPts val="500"/>
              </a:spcAft>
              <a:defRPr sz="1800" b="1">
                <a:solidFill>
                  <a:srgbClr val="FFFFFF"/>
                </a:solidFill>
                <a:latin typeface="Arial"/>
              </a:defRPr>
            </a:pPr>
            <a:r>
              <a:t>Full converter</a:t>
            </a:r>
          </a:p>
        </p:txBody>
      </p:sp>
      <p:cxnSp>
        <p:nvCxnSpPr>
          <p:cNvPr id="26" name="Connector 25"/>
          <p:cNvCxnSpPr/>
          <p:nvPr/>
        </p:nvCxnSpPr>
        <p:spPr>
          <a:xfrm>
            <a:off x="4864608" y="45720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5084064" y="44897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202936" y="4114800"/>
            <a:ext cx="1965960" cy="914400"/>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088" y="4261104"/>
            <a:ext cx="1819656" cy="640080"/>
          </a:xfrm>
          <a:prstGeom prst="rect">
            <a:avLst/>
          </a:prstGeom>
          <a:noFill/>
        </p:spPr>
        <p:txBody>
          <a:bodyPr wrap="square" lIns="27432" rIns="27432" tIns="18288" bIns="18288">
            <a:spAutoFit/>
          </a:bodyPr>
          <a:lstStyle/>
          <a:p>
            <a:pPr algn="ctr">
              <a:spcAft>
                <a:spcPts val="500"/>
              </a:spcAft>
              <a:defRPr sz="1800" b="1">
                <a:solidFill>
                  <a:srgbClr val="183247"/>
                </a:solidFill>
                <a:latin typeface="Arial"/>
              </a:defRPr>
            </a:pPr>
            <a:r>
              <a:t>Turbine</a:t>
            </a:r>
          </a:p>
          <a:p>
            <a:pPr algn="ctr">
              <a:spcAft>
                <a:spcPts val="500"/>
              </a:spcAft>
              <a:defRPr sz="1800" b="1">
                <a:solidFill>
                  <a:srgbClr val="183247"/>
                </a:solidFill>
                <a:latin typeface="Arial"/>
              </a:defRPr>
            </a:pPr>
            <a:r>
              <a:t>transformer</a:t>
            </a:r>
          </a:p>
        </p:txBody>
      </p:sp>
      <p:cxnSp>
        <p:nvCxnSpPr>
          <p:cNvPr id="30" name="Connector 29"/>
          <p:cNvCxnSpPr/>
          <p:nvPr/>
        </p:nvCxnSpPr>
        <p:spPr>
          <a:xfrm>
            <a:off x="7168896" y="45720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31" name="Chevron 30"/>
          <p:cNvSpPr/>
          <p:nvPr/>
        </p:nvSpPr>
        <p:spPr>
          <a:xfrm>
            <a:off x="7388352" y="44897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507224" y="4114800"/>
            <a:ext cx="1965960" cy="914400"/>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0376" y="4261104"/>
            <a:ext cx="1819656" cy="640080"/>
          </a:xfrm>
          <a:prstGeom prst="rect">
            <a:avLst/>
          </a:prstGeom>
          <a:noFill/>
        </p:spPr>
        <p:txBody>
          <a:bodyPr wrap="square" lIns="27432" rIns="27432" tIns="18288" bIns="18288">
            <a:spAutoFit/>
          </a:bodyPr>
          <a:lstStyle/>
          <a:p>
            <a:pPr algn="ctr">
              <a:spcAft>
                <a:spcPts val="500"/>
              </a:spcAft>
              <a:defRPr sz="1800" b="1">
                <a:solidFill>
                  <a:srgbClr val="183247"/>
                </a:solidFill>
                <a:latin typeface="Arial"/>
              </a:defRPr>
            </a:pPr>
            <a:r>
              <a:t>Collection</a:t>
            </a:r>
          </a:p>
          <a:p>
            <a:pPr algn="ctr">
              <a:spcAft>
                <a:spcPts val="500"/>
              </a:spcAft>
              <a:defRPr sz="1800" b="1">
                <a:solidFill>
                  <a:srgbClr val="183247"/>
                </a:solidFill>
                <a:latin typeface="Arial"/>
              </a:defRPr>
            </a:pPr>
            <a:r>
              <a:t>network</a:t>
            </a:r>
          </a:p>
        </p:txBody>
      </p:sp>
      <p:cxnSp>
        <p:nvCxnSpPr>
          <p:cNvPr id="34" name="Connector 33"/>
          <p:cNvCxnSpPr/>
          <p:nvPr/>
        </p:nvCxnSpPr>
        <p:spPr>
          <a:xfrm>
            <a:off x="9473184" y="45720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35" name="Chevron 34"/>
          <p:cNvSpPr/>
          <p:nvPr/>
        </p:nvSpPr>
        <p:spPr>
          <a:xfrm>
            <a:off x="9692640" y="44897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811512" y="4114800"/>
            <a:ext cx="1965960" cy="914400"/>
          </a:xfrm>
          <a:prstGeom prst="roundRect">
            <a:avLst>
              <a:gd name="adj" fmla="val 12000"/>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84664" y="4261104"/>
            <a:ext cx="1819656" cy="640080"/>
          </a:xfrm>
          <a:prstGeom prst="rect">
            <a:avLst/>
          </a:prstGeom>
          <a:noFill/>
        </p:spPr>
        <p:txBody>
          <a:bodyPr wrap="square" lIns="27432" rIns="27432" tIns="18288" bIns="18288">
            <a:spAutoFit/>
          </a:bodyPr>
          <a:lstStyle/>
          <a:p>
            <a:pPr algn="ctr">
              <a:spcAft>
                <a:spcPts val="500"/>
              </a:spcAft>
              <a:defRPr sz="1800" b="1">
                <a:solidFill>
                  <a:srgbClr val="FFFFFF"/>
                </a:solidFill>
                <a:latin typeface="Arial"/>
              </a:defRPr>
            </a:pPr>
            <a:r>
              <a:t>Substation</a:t>
            </a:r>
          </a:p>
          <a:p>
            <a:pPr algn="ctr">
              <a:spcAft>
                <a:spcPts val="500"/>
              </a:spcAft>
              <a:defRPr sz="1800" b="1">
                <a:solidFill>
                  <a:srgbClr val="FFFFFF"/>
                </a:solidFill>
                <a:latin typeface="Arial"/>
              </a:defRPr>
            </a:pPr>
            <a:r>
              <a:t>+ grid</a:t>
            </a:r>
          </a:p>
        </p:txBody>
      </p:sp>
      <p:sp>
        <p:nvSpPr>
          <p:cNvPr id="38" name="TextBox 37"/>
          <p:cNvSpPr txBox="1"/>
          <p:nvPr/>
        </p:nvSpPr>
        <p:spPr>
          <a:xfrm>
            <a:off x="640080" y="5431536"/>
            <a:ext cx="10972800" cy="65836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Illustrative full-converter topology. Gearbox or direct drive; other generator / converter designs also exist.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Control protects the machine and improves capture</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Pitch, yaw and plant control have different jobs</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R2,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05</a:t>
            </a:r>
          </a:p>
        </p:txBody>
      </p:sp>
      <p:sp>
        <p:nvSpPr>
          <p:cNvPr id="8" name="Rounded Rectangle 7"/>
          <p:cNvSpPr/>
          <p:nvPr/>
        </p:nvSpPr>
        <p:spPr>
          <a:xfrm>
            <a:off x="594360" y="1783080"/>
            <a:ext cx="3584448" cy="3127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4864" cy="312724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47672"/>
            <a:ext cx="3218688"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01  YAW</a:t>
            </a:r>
          </a:p>
        </p:txBody>
      </p:sp>
      <p:sp>
        <p:nvSpPr>
          <p:cNvPr id="11" name="TextBox 10"/>
          <p:cNvSpPr txBox="1"/>
          <p:nvPr/>
        </p:nvSpPr>
        <p:spPr>
          <a:xfrm>
            <a:off x="777240" y="2560320"/>
            <a:ext cx="3218688" cy="225856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Face the wind</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Rotate the nacelle</a:t>
            </a:r>
          </a:p>
        </p:txBody>
      </p:sp>
      <p:sp>
        <p:nvSpPr>
          <p:cNvPr id="12" name="Rounded Rectangle 11"/>
          <p:cNvSpPr/>
          <p:nvPr/>
        </p:nvSpPr>
        <p:spPr>
          <a:xfrm>
            <a:off x="4297680" y="1783080"/>
            <a:ext cx="3584448" cy="3127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54864" cy="312724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947672"/>
            <a:ext cx="3218688"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02  PITCH</a:t>
            </a:r>
          </a:p>
        </p:txBody>
      </p:sp>
      <p:sp>
        <p:nvSpPr>
          <p:cNvPr id="15" name="TextBox 14"/>
          <p:cNvSpPr txBox="1"/>
          <p:nvPr/>
        </p:nvSpPr>
        <p:spPr>
          <a:xfrm>
            <a:off x="4480560" y="2560320"/>
            <a:ext cx="3218688" cy="225856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Regulate power</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Change blade angle</a:t>
            </a:r>
          </a:p>
        </p:txBody>
      </p:sp>
      <p:sp>
        <p:nvSpPr>
          <p:cNvPr id="16" name="Rounded Rectangle 15"/>
          <p:cNvSpPr/>
          <p:nvPr/>
        </p:nvSpPr>
        <p:spPr>
          <a:xfrm>
            <a:off x="8001000" y="1783080"/>
            <a:ext cx="3584448" cy="3127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783080"/>
            <a:ext cx="54864" cy="312724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947672"/>
            <a:ext cx="3218688"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03  TORQUE</a:t>
            </a:r>
          </a:p>
        </p:txBody>
      </p:sp>
      <p:sp>
        <p:nvSpPr>
          <p:cNvPr id="19" name="TextBox 18"/>
          <p:cNvSpPr txBox="1"/>
          <p:nvPr/>
        </p:nvSpPr>
        <p:spPr>
          <a:xfrm>
            <a:off x="8183879" y="2560320"/>
            <a:ext cx="3218688" cy="225856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Optimize capture</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Control rotor speed</a:t>
            </a:r>
          </a:p>
        </p:txBody>
      </p:sp>
      <p:sp>
        <p:nvSpPr>
          <p:cNvPr id="20" name="Rounded Rectangle 19"/>
          <p:cNvSpPr/>
          <p:nvPr/>
        </p:nvSpPr>
        <p:spPr>
          <a:xfrm>
            <a:off x="640080" y="5303520"/>
            <a:ext cx="10927080" cy="676656"/>
          </a:xfrm>
          <a:prstGeom prst="roundRect">
            <a:avLst>
              <a:gd name="adj" fmla="val 12000"/>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440680"/>
            <a:ext cx="10515600" cy="438912"/>
          </a:xfrm>
          <a:prstGeom prst="rect">
            <a:avLst/>
          </a:prstGeom>
          <a:noFill/>
        </p:spPr>
        <p:txBody>
          <a:bodyPr wrap="square" lIns="27432" rIns="27432" tIns="18288" bIns="18288">
            <a:spAutoFit/>
          </a:bodyPr>
          <a:lstStyle/>
          <a:p>
            <a:pPr algn="l">
              <a:spcAft>
                <a:spcPts val="500"/>
              </a:spcAft>
              <a:defRPr sz="2200" b="0">
                <a:solidFill>
                  <a:srgbClr val="FFFFFF"/>
                </a:solidFill>
                <a:latin typeface="Arial"/>
              </a:defRPr>
            </a:pPr>
            <a:r>
              <a:t>Protection and plant control coordinate all three functions.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Power capture: why wind speed matters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A worked example with explicitly assumed inputs</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06</a:t>
            </a:r>
          </a:p>
        </p:txBody>
      </p:sp>
      <p:sp>
        <p:nvSpPr>
          <p:cNvPr id="8" name="Rounded Rectangle 7"/>
          <p:cNvSpPr/>
          <p:nvPr/>
        </p:nvSpPr>
        <p:spPr>
          <a:xfrm>
            <a:off x="594360" y="1709928"/>
            <a:ext cx="10972800" cy="914400"/>
          </a:xfrm>
          <a:prstGeom prst="roundRect">
            <a:avLst>
              <a:gd name="adj" fmla="val 12000"/>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74519"/>
            <a:ext cx="10515600" cy="594360"/>
          </a:xfrm>
          <a:prstGeom prst="rect">
            <a:avLst/>
          </a:prstGeom>
          <a:noFill/>
        </p:spPr>
        <p:txBody>
          <a:bodyPr wrap="square" lIns="27432" rIns="27432" tIns="18288" bIns="18288">
            <a:spAutoFit/>
          </a:bodyPr>
          <a:lstStyle/>
          <a:p>
            <a:pPr algn="l">
              <a:spcAft>
                <a:spcPts val="500"/>
              </a:spcAft>
              <a:defRPr sz="3100" b="1">
                <a:solidFill>
                  <a:srgbClr val="FFFFFF"/>
                </a:solidFill>
                <a:latin typeface="Arial"/>
              </a:defRPr>
            </a:pPr>
            <a:r>
              <a:t>Pₑ ≈ ½ρAv³ × Cp × η   |   A = πD² / 4</a:t>
            </a:r>
          </a:p>
        </p:txBody>
      </p:sp>
      <p:sp>
        <p:nvSpPr>
          <p:cNvPr id="10" name="Rounded Rectangle 9"/>
          <p:cNvSpPr/>
          <p:nvPr/>
        </p:nvSpPr>
        <p:spPr>
          <a:xfrm>
            <a:off x="594360" y="2862072"/>
            <a:ext cx="5120640" cy="24871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862072"/>
            <a:ext cx="54864" cy="248716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026664"/>
            <a:ext cx="4754879"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ASSUMED INPUTS</a:t>
            </a:r>
          </a:p>
        </p:txBody>
      </p:sp>
      <p:sp>
        <p:nvSpPr>
          <p:cNvPr id="13" name="TextBox 12"/>
          <p:cNvSpPr txBox="1"/>
          <p:nvPr/>
        </p:nvSpPr>
        <p:spPr>
          <a:xfrm>
            <a:off x="777240" y="3639312"/>
            <a:ext cx="4754879" cy="161848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D = 120 m  |  v = 8 m/s</a:t>
            </a:r>
          </a:p>
          <a:p>
            <a:pPr algn="l">
              <a:spcAft>
                <a:spcPts val="500"/>
              </a:spcAft>
              <a:defRPr sz="2000" b="0">
                <a:solidFill>
                  <a:srgbClr val="183247"/>
                </a:solidFill>
                <a:latin typeface="Arial"/>
              </a:defRPr>
            </a:pPr>
            <a:r>
              <a:t>ρ = 1.225 kg/m³</a:t>
            </a:r>
          </a:p>
          <a:p>
            <a:pPr algn="l">
              <a:spcAft>
                <a:spcPts val="500"/>
              </a:spcAft>
              <a:defRPr sz="2000" b="0">
                <a:solidFill>
                  <a:srgbClr val="183247"/>
                </a:solidFill>
                <a:latin typeface="Arial"/>
              </a:defRPr>
            </a:pPr>
            <a:r>
              <a:t>Cp = 0.45  |  η = 0.94</a:t>
            </a:r>
          </a:p>
        </p:txBody>
      </p:sp>
      <p:sp>
        <p:nvSpPr>
          <p:cNvPr id="14" name="Rounded Rectangle 13"/>
          <p:cNvSpPr/>
          <p:nvPr/>
        </p:nvSpPr>
        <p:spPr>
          <a:xfrm>
            <a:off x="5943600" y="2862072"/>
            <a:ext cx="5623560" cy="24871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2862072"/>
            <a:ext cx="54864" cy="248716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3026664"/>
            <a:ext cx="525780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CALCULATED OUTPUT</a:t>
            </a:r>
          </a:p>
        </p:txBody>
      </p:sp>
      <p:sp>
        <p:nvSpPr>
          <p:cNvPr id="17" name="TextBox 16"/>
          <p:cNvSpPr txBox="1"/>
          <p:nvPr/>
        </p:nvSpPr>
        <p:spPr>
          <a:xfrm>
            <a:off x="6126480" y="3639312"/>
            <a:ext cx="5257800" cy="161848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Wind power ≈ 3.55 MW</a:t>
            </a:r>
          </a:p>
          <a:p>
            <a:pPr algn="l">
              <a:spcAft>
                <a:spcPts val="500"/>
              </a:spcAft>
              <a:defRPr sz="2000" b="0">
                <a:solidFill>
                  <a:srgbClr val="183247"/>
                </a:solidFill>
                <a:latin typeface="Arial"/>
              </a:defRPr>
            </a:pPr>
            <a:r>
              <a:t>Rotor power ≈ 1.60 MW</a:t>
            </a:r>
          </a:p>
          <a:p>
            <a:pPr algn="l">
              <a:spcAft>
                <a:spcPts val="500"/>
              </a:spcAft>
              <a:defRPr sz="2000" b="0">
                <a:solidFill>
                  <a:srgbClr val="183247"/>
                </a:solidFill>
                <a:latin typeface="Arial"/>
              </a:defRPr>
            </a:pPr>
            <a:r>
              <a:t>Electrical power ≈ 1.50 MW</a:t>
            </a:r>
          </a:p>
        </p:txBody>
      </p:sp>
      <p:sp>
        <p:nvSpPr>
          <p:cNvPr id="18" name="TextBox 17"/>
          <p:cNvSpPr txBox="1"/>
          <p:nvPr/>
        </p:nvSpPr>
        <p:spPr>
          <a:xfrm>
            <a:off x="731520" y="5596128"/>
            <a:ext cx="10698480" cy="594360"/>
          </a:xfrm>
          <a:prstGeom prst="rect">
            <a:avLst/>
          </a:prstGeom>
          <a:noFill/>
        </p:spPr>
        <p:txBody>
          <a:bodyPr wrap="square" lIns="27432" rIns="27432" tIns="18288" bIns="18288">
            <a:spAutoFit/>
          </a:bodyPr>
          <a:lstStyle/>
          <a:p>
            <a:pPr algn="l">
              <a:spcAft>
                <a:spcPts val="500"/>
              </a:spcAft>
              <a:defRPr sz="1800" b="0">
                <a:solidFill>
                  <a:srgbClr val="5C6F7E"/>
                </a:solidFill>
                <a:latin typeface="Arial"/>
              </a:defRPr>
            </a:pPr>
            <a:r>
              <a:t>Ideal Betz limit: Cp ≤ 16/27 ≈ 59.3%   •   Teaching example, not measured performance.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Efficiency is not capacity factor</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Instantaneous conversion versus energy over time</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A</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07</a:t>
            </a:r>
          </a:p>
        </p:txBody>
      </p:sp>
      <p:sp>
        <p:nvSpPr>
          <p:cNvPr id="8" name="Rounded Rectangle 7"/>
          <p:cNvSpPr/>
          <p:nvPr/>
        </p:nvSpPr>
        <p:spPr>
          <a:xfrm>
            <a:off x="594360" y="1737360"/>
            <a:ext cx="3584448" cy="20299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37360"/>
            <a:ext cx="54864" cy="202996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01952"/>
            <a:ext cx="3218688"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Cp</a:t>
            </a:r>
          </a:p>
        </p:txBody>
      </p:sp>
      <p:sp>
        <p:nvSpPr>
          <p:cNvPr id="11" name="TextBox 10"/>
          <p:cNvSpPr txBox="1"/>
          <p:nvPr/>
        </p:nvSpPr>
        <p:spPr>
          <a:xfrm>
            <a:off x="777240" y="2514600"/>
            <a:ext cx="3218688" cy="116128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Aerodynamic capture</a:t>
            </a:r>
          </a:p>
          <a:p>
            <a:pPr algn="l">
              <a:spcAft>
                <a:spcPts val="500"/>
              </a:spcAft>
              <a:defRPr sz="2000" b="0">
                <a:solidFill>
                  <a:srgbClr val="183247"/>
                </a:solidFill>
                <a:latin typeface="Arial"/>
              </a:defRPr>
            </a:pPr>
            <a:r>
              <a:t>at one operating point</a:t>
            </a:r>
          </a:p>
        </p:txBody>
      </p:sp>
      <p:sp>
        <p:nvSpPr>
          <p:cNvPr id="12" name="Rounded Rectangle 11"/>
          <p:cNvSpPr/>
          <p:nvPr/>
        </p:nvSpPr>
        <p:spPr>
          <a:xfrm>
            <a:off x="4297680" y="1737360"/>
            <a:ext cx="3584448" cy="20299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37360"/>
            <a:ext cx="54864" cy="202996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901952"/>
            <a:ext cx="3218688"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η</a:t>
            </a:r>
          </a:p>
        </p:txBody>
      </p:sp>
      <p:sp>
        <p:nvSpPr>
          <p:cNvPr id="15" name="TextBox 14"/>
          <p:cNvSpPr txBox="1"/>
          <p:nvPr/>
        </p:nvSpPr>
        <p:spPr>
          <a:xfrm>
            <a:off x="4480560" y="2514600"/>
            <a:ext cx="3218688" cy="116128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Downstream mechanical</a:t>
            </a:r>
          </a:p>
          <a:p>
            <a:pPr algn="l">
              <a:spcAft>
                <a:spcPts val="500"/>
              </a:spcAft>
              <a:defRPr sz="2000" b="0">
                <a:solidFill>
                  <a:srgbClr val="183247"/>
                </a:solidFill>
                <a:latin typeface="Arial"/>
              </a:defRPr>
            </a:pPr>
            <a:r>
              <a:t>and electrical efficiency</a:t>
            </a:r>
          </a:p>
        </p:txBody>
      </p:sp>
      <p:sp>
        <p:nvSpPr>
          <p:cNvPr id="16" name="Rounded Rectangle 15"/>
          <p:cNvSpPr/>
          <p:nvPr/>
        </p:nvSpPr>
        <p:spPr>
          <a:xfrm>
            <a:off x="8001000" y="1737360"/>
            <a:ext cx="3584448" cy="20299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737360"/>
            <a:ext cx="54864" cy="2029968"/>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901952"/>
            <a:ext cx="3218688"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CAPACITY FACTOR</a:t>
            </a:r>
          </a:p>
        </p:txBody>
      </p:sp>
      <p:sp>
        <p:nvSpPr>
          <p:cNvPr id="19" name="TextBox 18"/>
          <p:cNvSpPr txBox="1"/>
          <p:nvPr/>
        </p:nvSpPr>
        <p:spPr>
          <a:xfrm>
            <a:off x="8183879" y="2514600"/>
            <a:ext cx="3218688" cy="1161288"/>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Energy over time ÷</a:t>
            </a:r>
          </a:p>
          <a:p>
            <a:pPr algn="l">
              <a:spcAft>
                <a:spcPts val="500"/>
              </a:spcAft>
              <a:defRPr sz="2000" b="0">
                <a:solidFill>
                  <a:srgbClr val="183247"/>
                </a:solidFill>
                <a:latin typeface="Arial"/>
              </a:defRPr>
            </a:pPr>
            <a:r>
              <a:t>continuous rated energy</a:t>
            </a:r>
          </a:p>
        </p:txBody>
      </p:sp>
      <p:sp>
        <p:nvSpPr>
          <p:cNvPr id="20" name="Rounded Rectangle 19"/>
          <p:cNvSpPr/>
          <p:nvPr/>
        </p:nvSpPr>
        <p:spPr>
          <a:xfrm>
            <a:off x="640080" y="4206240"/>
            <a:ext cx="10927080" cy="1133856"/>
          </a:xfrm>
          <a:prstGeom prst="roundRect">
            <a:avLst>
              <a:gd name="adj" fmla="val 12000"/>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370832"/>
            <a:ext cx="10469880" cy="731520"/>
          </a:xfrm>
          <a:prstGeom prst="rect">
            <a:avLst/>
          </a:prstGeom>
          <a:noFill/>
        </p:spPr>
        <p:txBody>
          <a:bodyPr wrap="square" lIns="27432" rIns="27432" tIns="18288" bIns="18288">
            <a:spAutoFit/>
          </a:bodyPr>
          <a:lstStyle/>
          <a:p>
            <a:pPr algn="ctr">
              <a:spcAft>
                <a:spcPts val="500"/>
              </a:spcAft>
              <a:defRPr sz="3000" b="1">
                <a:solidFill>
                  <a:srgbClr val="FFFFFF"/>
                </a:solidFill>
                <a:latin typeface="Arial"/>
              </a:defRPr>
            </a:pPr>
            <a:r>
              <a:t>3 MW × 8,760 h × 0.35 ≈ 9.20 GWh per year</a:t>
            </a:r>
          </a:p>
        </p:txBody>
      </p:sp>
      <p:sp>
        <p:nvSpPr>
          <p:cNvPr id="22" name="TextBox 21"/>
          <p:cNvSpPr txBox="1"/>
          <p:nvPr/>
        </p:nvSpPr>
        <p:spPr>
          <a:xfrm>
            <a:off x="731520" y="5596128"/>
            <a:ext cx="10698480" cy="548640"/>
          </a:xfrm>
          <a:prstGeom prst="rect">
            <a:avLst/>
          </a:prstGeom>
          <a:noFill/>
        </p:spPr>
        <p:txBody>
          <a:bodyPr wrap="square" lIns="27432" rIns="27432" tIns="18288" bIns="18288">
            <a:spAutoFit/>
          </a:bodyPr>
          <a:lstStyle/>
          <a:p>
            <a:pPr algn="l">
              <a:spcAft>
                <a:spcPts val="500"/>
              </a:spcAft>
              <a:defRPr sz="1700" b="0">
                <a:solidFill>
                  <a:srgbClr val="5C6F7E"/>
                </a:solidFill>
                <a:latin typeface="Arial"/>
              </a:defRPr>
            </a:pPr>
            <a:r>
              <a:t>Illustrative rating and capacity factor. Resource, wakes, availability, losses and curtailment affect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Grid integration: active power and reactive power</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Connect the wind plant to our voltage and frequency lectures</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C1, C2, C3,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08</a:t>
            </a:r>
          </a:p>
        </p:txBody>
      </p:sp>
      <p:sp>
        <p:nvSpPr>
          <p:cNvPr id="8" name="Rounded Rectangle 7"/>
          <p:cNvSpPr/>
          <p:nvPr/>
        </p:nvSpPr>
        <p:spPr>
          <a:xfrm>
            <a:off x="594360" y="1737360"/>
            <a:ext cx="5349240" cy="3255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37360"/>
            <a:ext cx="54864" cy="3255264"/>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01952"/>
            <a:ext cx="4983479"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FREQUENCY / ACTIVE POWER</a:t>
            </a:r>
          </a:p>
        </p:txBody>
      </p:sp>
      <p:sp>
        <p:nvSpPr>
          <p:cNvPr id="11" name="TextBox 10"/>
          <p:cNvSpPr txBox="1"/>
          <p:nvPr/>
        </p:nvSpPr>
        <p:spPr>
          <a:xfrm>
            <a:off x="777240" y="2514600"/>
            <a:ext cx="4983479" cy="2386584"/>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Generation–demand balance</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Short burst: finite rotor energy</a:t>
            </a:r>
          </a:p>
          <a:p>
            <a:pPr algn="l">
              <a:spcAft>
                <a:spcPts val="500"/>
              </a:spcAft>
              <a:defRPr sz="2000" b="0">
                <a:solidFill>
                  <a:srgbClr val="183247"/>
                </a:solidFill>
                <a:latin typeface="Arial"/>
              </a:defRPr>
            </a:pPr>
            <a:r>
              <a:t>Sustained support: headroom + resource</a:t>
            </a:r>
          </a:p>
        </p:txBody>
      </p:sp>
      <p:sp>
        <p:nvSpPr>
          <p:cNvPr id="12" name="Rounded Rectangle 11"/>
          <p:cNvSpPr/>
          <p:nvPr/>
        </p:nvSpPr>
        <p:spPr>
          <a:xfrm>
            <a:off x="6172200" y="1737360"/>
            <a:ext cx="5394960" cy="32552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737360"/>
            <a:ext cx="54864" cy="3255264"/>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901952"/>
            <a:ext cx="502920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VOLTAGE / REACTIVE POWER</a:t>
            </a:r>
          </a:p>
        </p:txBody>
      </p:sp>
      <p:sp>
        <p:nvSpPr>
          <p:cNvPr id="15" name="TextBox 14"/>
          <p:cNvSpPr txBox="1"/>
          <p:nvPr/>
        </p:nvSpPr>
        <p:spPr>
          <a:xfrm>
            <a:off x="6355080" y="2514600"/>
            <a:ext cx="5029200" cy="2386584"/>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Converter and plant-level control</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Reactive current within limits</a:t>
            </a:r>
          </a:p>
          <a:p>
            <a:pPr algn="l">
              <a:spcAft>
                <a:spcPts val="500"/>
              </a:spcAft>
              <a:defRPr sz="2000" b="0">
                <a:solidFill>
                  <a:srgbClr val="183247"/>
                </a:solidFill>
                <a:latin typeface="Arial"/>
              </a:defRPr>
            </a:pPr>
            <a:r>
              <a:t>Synchronous AVR acts on excitation</a:t>
            </a:r>
          </a:p>
        </p:txBody>
      </p:sp>
      <p:sp>
        <p:nvSpPr>
          <p:cNvPr id="16" name="TextBox 15"/>
          <p:cNvSpPr txBox="1"/>
          <p:nvPr/>
        </p:nvSpPr>
        <p:spPr>
          <a:xfrm>
            <a:off x="685800" y="5394960"/>
            <a:ext cx="10927080" cy="713232"/>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Apply the course principles to the correct architecture: full-converter wind is not a directly grid-coupled synchronous generator.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Environmental impacts: low carbon, not impact-free</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Compare life cycles and manage local impacts</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R5, R7</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09</a:t>
            </a:r>
          </a:p>
        </p:txBody>
      </p:sp>
      <p:sp>
        <p:nvSpPr>
          <p:cNvPr id="8" name="TextBox 7"/>
          <p:cNvSpPr txBox="1"/>
          <p:nvPr/>
        </p:nvSpPr>
        <p:spPr>
          <a:xfrm>
            <a:off x="658368" y="1673352"/>
            <a:ext cx="5669280" cy="502920"/>
          </a:xfrm>
          <a:prstGeom prst="rect">
            <a:avLst/>
          </a:prstGeom>
          <a:noFill/>
        </p:spPr>
        <p:txBody>
          <a:bodyPr wrap="square" lIns="27432" rIns="27432" tIns="18288" bIns="18288">
            <a:spAutoFit/>
          </a:bodyPr>
          <a:lstStyle/>
          <a:p>
            <a:pPr algn="l">
              <a:spcAft>
                <a:spcPts val="500"/>
              </a:spcAft>
              <a:defRPr sz="2300" b="1">
                <a:solidFill>
                  <a:srgbClr val="183247"/>
                </a:solidFill>
                <a:latin typeface="Arial"/>
              </a:defRPr>
            </a:pPr>
            <a:r>
              <a:t>Life-cycle GHG: literature medians</a:t>
            </a:r>
          </a:p>
        </p:txBody>
      </p:sp>
      <p:sp>
        <p:nvSpPr>
          <p:cNvPr id="9" name="TextBox 8"/>
          <p:cNvSpPr txBox="1"/>
          <p:nvPr/>
        </p:nvSpPr>
        <p:spPr>
          <a:xfrm>
            <a:off x="685800" y="2468880"/>
            <a:ext cx="1920240" cy="594360"/>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Onshore wind</a:t>
            </a:r>
          </a:p>
        </p:txBody>
      </p:sp>
      <p:sp>
        <p:nvSpPr>
          <p:cNvPr id="10" name="Rectangle 9"/>
          <p:cNvSpPr/>
          <p:nvPr/>
        </p:nvSpPr>
        <p:spPr>
          <a:xfrm>
            <a:off x="2743200" y="2560320"/>
            <a:ext cx="82296" cy="39319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2514600"/>
            <a:ext cx="777240" cy="502920"/>
          </a:xfrm>
          <a:prstGeom prst="rect">
            <a:avLst/>
          </a:prstGeom>
          <a:noFill/>
        </p:spPr>
        <p:txBody>
          <a:bodyPr wrap="square" lIns="27432" rIns="27432" tIns="18288" bIns="18288">
            <a:spAutoFit/>
          </a:bodyPr>
          <a:lstStyle/>
          <a:p>
            <a:pPr algn="l">
              <a:spcAft>
                <a:spcPts val="500"/>
              </a:spcAft>
              <a:defRPr sz="1900" b="1">
                <a:solidFill>
                  <a:srgbClr val="008D91"/>
                </a:solidFill>
                <a:latin typeface="Arial"/>
              </a:defRPr>
            </a:pPr>
            <a:r>
              <a:t>11</a:t>
            </a:r>
          </a:p>
        </p:txBody>
      </p:sp>
      <p:sp>
        <p:nvSpPr>
          <p:cNvPr id="12" name="TextBox 11"/>
          <p:cNvSpPr txBox="1"/>
          <p:nvPr/>
        </p:nvSpPr>
        <p:spPr>
          <a:xfrm>
            <a:off x="685800" y="3383280"/>
            <a:ext cx="1920240" cy="594360"/>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Gas combined cycle</a:t>
            </a:r>
          </a:p>
        </p:txBody>
      </p:sp>
      <p:sp>
        <p:nvSpPr>
          <p:cNvPr id="13" name="Rectangle 12"/>
          <p:cNvSpPr/>
          <p:nvPr/>
        </p:nvSpPr>
        <p:spPr>
          <a:xfrm>
            <a:off x="2743200" y="3474720"/>
            <a:ext cx="1912434" cy="393192"/>
          </a:xfrm>
          <a:prstGeom prst="rect">
            <a:avLst/>
          </a:prstGeom>
          <a:solidFill>
            <a:srgbClr val="5C6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4506" y="3429000"/>
            <a:ext cx="777240" cy="502920"/>
          </a:xfrm>
          <a:prstGeom prst="rect">
            <a:avLst/>
          </a:prstGeom>
          <a:noFill/>
        </p:spPr>
        <p:txBody>
          <a:bodyPr wrap="square" lIns="27432" rIns="27432" tIns="18288" bIns="18288">
            <a:spAutoFit/>
          </a:bodyPr>
          <a:lstStyle/>
          <a:p>
            <a:pPr algn="l">
              <a:spcAft>
                <a:spcPts val="500"/>
              </a:spcAft>
              <a:defRPr sz="1900" b="1">
                <a:solidFill>
                  <a:srgbClr val="5C6F7E"/>
                </a:solidFill>
                <a:latin typeface="Arial"/>
              </a:defRPr>
            </a:pPr>
            <a:r>
              <a:t>490</a:t>
            </a:r>
          </a:p>
        </p:txBody>
      </p:sp>
      <p:sp>
        <p:nvSpPr>
          <p:cNvPr id="15" name="TextBox 14"/>
          <p:cNvSpPr txBox="1"/>
          <p:nvPr/>
        </p:nvSpPr>
        <p:spPr>
          <a:xfrm>
            <a:off x="685800" y="4297680"/>
            <a:ext cx="1920240" cy="594360"/>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Pulverized coal</a:t>
            </a:r>
          </a:p>
        </p:txBody>
      </p:sp>
      <p:sp>
        <p:nvSpPr>
          <p:cNvPr id="16" name="Rectangle 15"/>
          <p:cNvSpPr/>
          <p:nvPr/>
        </p:nvSpPr>
        <p:spPr>
          <a:xfrm>
            <a:off x="2743200" y="4389120"/>
            <a:ext cx="3200400" cy="393192"/>
          </a:xfrm>
          <a:prstGeom prst="rect">
            <a:avLst/>
          </a:prstGeom>
          <a:solidFill>
            <a:srgbClr val="E9A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62472" y="4343400"/>
            <a:ext cx="777240" cy="502920"/>
          </a:xfrm>
          <a:prstGeom prst="rect">
            <a:avLst/>
          </a:prstGeom>
          <a:noFill/>
        </p:spPr>
        <p:txBody>
          <a:bodyPr wrap="square" lIns="27432" rIns="27432" tIns="18288" bIns="18288">
            <a:spAutoFit/>
          </a:bodyPr>
          <a:lstStyle/>
          <a:p>
            <a:pPr algn="l">
              <a:spcAft>
                <a:spcPts val="500"/>
              </a:spcAft>
              <a:defRPr sz="1900" b="1">
                <a:solidFill>
                  <a:srgbClr val="E9A74B"/>
                </a:solidFill>
                <a:latin typeface="Arial"/>
              </a:defRPr>
            </a:pPr>
            <a:r>
              <a:t>820</a:t>
            </a:r>
          </a:p>
        </p:txBody>
      </p:sp>
      <p:sp>
        <p:nvSpPr>
          <p:cNvPr id="18" name="TextBox 17"/>
          <p:cNvSpPr txBox="1"/>
          <p:nvPr/>
        </p:nvSpPr>
        <p:spPr>
          <a:xfrm>
            <a:off x="731520" y="5376672"/>
            <a:ext cx="5943600" cy="594360"/>
          </a:xfrm>
          <a:prstGeom prst="rect">
            <a:avLst/>
          </a:prstGeom>
          <a:noFill/>
        </p:spPr>
        <p:txBody>
          <a:bodyPr wrap="square" lIns="27432" rIns="27432" tIns="18288" bIns="18288">
            <a:spAutoFit/>
          </a:bodyPr>
          <a:lstStyle/>
          <a:p>
            <a:pPr algn="l">
              <a:spcAft>
                <a:spcPts val="500"/>
              </a:spcAft>
              <a:defRPr sz="1400" b="0">
                <a:solidFill>
                  <a:srgbClr val="5C6F7E"/>
                </a:solidFill>
                <a:latin typeface="Arial"/>
              </a:defRPr>
            </a:pPr>
            <a:r>
              <a:t>g CO₂-eq/kWh • IPCC 2014, Table A.III.2</a:t>
            </a:r>
          </a:p>
          <a:p>
            <a:pPr algn="l">
              <a:spcAft>
                <a:spcPts val="500"/>
              </a:spcAft>
              <a:defRPr sz="1400" b="0">
                <a:solidFill>
                  <a:srgbClr val="5C6F7E"/>
                </a:solidFill>
                <a:latin typeface="Arial"/>
              </a:defRPr>
            </a:pPr>
            <a:r>
              <a:t>Historical synthesis; not plant-specific measurements.</a:t>
            </a:r>
          </a:p>
        </p:txBody>
      </p:sp>
      <p:sp>
        <p:nvSpPr>
          <p:cNvPr id="19" name="Rounded Rectangle 18"/>
          <p:cNvSpPr/>
          <p:nvPr/>
        </p:nvSpPr>
        <p:spPr>
          <a:xfrm>
            <a:off x="7040880" y="1874519"/>
            <a:ext cx="4526280" cy="4114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40880" y="1874519"/>
            <a:ext cx="54864" cy="41148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2039112"/>
            <a:ext cx="416052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LOCAL IMPACTS</a:t>
            </a:r>
          </a:p>
        </p:txBody>
      </p:sp>
      <p:sp>
        <p:nvSpPr>
          <p:cNvPr id="22" name="TextBox 21"/>
          <p:cNvSpPr txBox="1"/>
          <p:nvPr/>
        </p:nvSpPr>
        <p:spPr>
          <a:xfrm>
            <a:off x="7223760" y="2651760"/>
            <a:ext cx="4160520" cy="3246120"/>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Wildlife and habitats</a:t>
            </a:r>
          </a:p>
          <a:p>
            <a:pPr algn="l">
              <a:spcAft>
                <a:spcPts val="500"/>
              </a:spcAft>
              <a:defRPr sz="2000" b="0">
                <a:solidFill>
                  <a:srgbClr val="183247"/>
                </a:solidFill>
                <a:latin typeface="Arial"/>
              </a:defRPr>
            </a:pPr>
            <a:r>
              <a:t>Noise and visual effects</a:t>
            </a:r>
          </a:p>
          <a:p>
            <a:pPr algn="l">
              <a:spcAft>
                <a:spcPts val="500"/>
              </a:spcAft>
              <a:defRPr sz="2000" b="0">
                <a:solidFill>
                  <a:srgbClr val="183247"/>
                </a:solidFill>
                <a:latin typeface="Arial"/>
              </a:defRPr>
            </a:pPr>
            <a:r>
              <a:t>Materials and end of life</a:t>
            </a:r>
          </a:p>
          <a:p>
            <a:pPr algn="l">
              <a:spcAft>
                <a:spcPts val="500"/>
              </a:spcAft>
              <a:defRPr sz="2000" b="0">
                <a:solidFill>
                  <a:srgbClr val="183247"/>
                </a:solidFill>
                <a:latin typeface="Arial"/>
              </a:defRPr>
            </a:pPr>
          </a:p>
          <a:p>
            <a:pPr algn="l">
              <a:spcAft>
                <a:spcPts val="500"/>
              </a:spcAft>
              <a:defRPr sz="2000" b="0">
                <a:solidFill>
                  <a:srgbClr val="183247"/>
                </a:solidFill>
                <a:latin typeface="Arial"/>
              </a:defRPr>
            </a:pPr>
            <a:r>
              <a:t>Siting • monitoring • mitigation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Global use: capacity is growing, geography matters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End-2024 capacity is a dated benchmark, not a live statistic</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R4</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10</a:t>
            </a:r>
          </a:p>
        </p:txBody>
      </p:sp>
      <p:sp>
        <p:nvSpPr>
          <p:cNvPr id="8" name="Rounded Rectangle 7"/>
          <p:cNvSpPr/>
          <p:nvPr/>
        </p:nvSpPr>
        <p:spPr>
          <a:xfrm>
            <a:off x="640080" y="1783080"/>
            <a:ext cx="5074920" cy="3337560"/>
          </a:xfrm>
          <a:prstGeom prst="roundRect">
            <a:avLst>
              <a:gd name="adj" fmla="val 12000"/>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57984"/>
            <a:ext cx="4480560" cy="914400"/>
          </a:xfrm>
          <a:prstGeom prst="rect">
            <a:avLst/>
          </a:prstGeom>
          <a:noFill/>
        </p:spPr>
        <p:txBody>
          <a:bodyPr wrap="square" lIns="27432" rIns="27432" tIns="18288" bIns="18288">
            <a:spAutoFit/>
          </a:bodyPr>
          <a:lstStyle/>
          <a:p>
            <a:pPr algn="l">
              <a:spcAft>
                <a:spcPts val="500"/>
              </a:spcAft>
              <a:defRPr sz="4400" b="1">
                <a:solidFill>
                  <a:srgbClr val="FFFFFF"/>
                </a:solidFill>
                <a:latin typeface="Arial"/>
              </a:defRPr>
            </a:pPr>
            <a:r>
              <a:t>~1.13 TW</a:t>
            </a:r>
          </a:p>
        </p:txBody>
      </p:sp>
      <p:sp>
        <p:nvSpPr>
          <p:cNvPr id="10" name="TextBox 9"/>
          <p:cNvSpPr txBox="1"/>
          <p:nvPr/>
        </p:nvSpPr>
        <p:spPr>
          <a:xfrm>
            <a:off x="932688" y="3273552"/>
            <a:ext cx="4389120" cy="1280160"/>
          </a:xfrm>
          <a:prstGeom prst="rect">
            <a:avLst/>
          </a:prstGeom>
          <a:noFill/>
        </p:spPr>
        <p:txBody>
          <a:bodyPr wrap="square" lIns="27432" rIns="27432" tIns="18288" bIns="18288">
            <a:spAutoFit/>
          </a:bodyPr>
          <a:lstStyle/>
          <a:p>
            <a:pPr algn="l">
              <a:spcAft>
                <a:spcPts val="500"/>
              </a:spcAft>
              <a:defRPr sz="2300" b="0">
                <a:solidFill>
                  <a:srgbClr val="B8CDD9"/>
                </a:solidFill>
                <a:latin typeface="Arial"/>
              </a:defRPr>
            </a:pPr>
            <a:r>
              <a:t>Global installed wind capacity</a:t>
            </a:r>
          </a:p>
          <a:p>
            <a:pPr algn="l">
              <a:spcAft>
                <a:spcPts val="500"/>
              </a:spcAft>
              <a:defRPr sz="2300" b="0">
                <a:solidFill>
                  <a:srgbClr val="B8CDD9"/>
                </a:solidFill>
                <a:latin typeface="Arial"/>
              </a:defRPr>
            </a:pPr>
            <a:r>
              <a:t>End-2024</a:t>
            </a:r>
          </a:p>
          <a:p>
            <a:pPr algn="l">
              <a:spcAft>
                <a:spcPts val="500"/>
              </a:spcAft>
              <a:defRPr sz="2300" b="0">
                <a:solidFill>
                  <a:srgbClr val="B8CDD9"/>
                </a:solidFill>
                <a:latin typeface="Arial"/>
              </a:defRPr>
            </a:pPr>
            <a:r>
              <a:t>IRENA (2025)</a:t>
            </a:r>
          </a:p>
        </p:txBody>
      </p:sp>
      <p:sp>
        <p:nvSpPr>
          <p:cNvPr id="11" name="Rectangle 10"/>
          <p:cNvSpPr/>
          <p:nvPr/>
        </p:nvSpPr>
        <p:spPr>
          <a:xfrm>
            <a:off x="6080760" y="2020824"/>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947672"/>
            <a:ext cx="5257800" cy="1005839"/>
          </a:xfrm>
          <a:prstGeom prst="rect">
            <a:avLst/>
          </a:prstGeom>
          <a:noFill/>
        </p:spPr>
        <p:txBody>
          <a:bodyPr wrap="square" lIns="27432" rIns="27432" tIns="18288" bIns="18288">
            <a:spAutoFit/>
          </a:bodyPr>
          <a:lstStyle/>
          <a:p>
            <a:pPr algn="l">
              <a:spcAft>
                <a:spcPts val="500"/>
              </a:spcAft>
              <a:defRPr sz="2100" b="0">
                <a:solidFill>
                  <a:srgbClr val="183247"/>
                </a:solidFill>
                <a:latin typeface="Arial"/>
              </a:defRPr>
            </a:pPr>
            <a:r>
              <a:t>China is the largest national installed-capacity market</a:t>
            </a:r>
          </a:p>
        </p:txBody>
      </p:sp>
      <p:sp>
        <p:nvSpPr>
          <p:cNvPr id="13" name="Rectangle 12"/>
          <p:cNvSpPr/>
          <p:nvPr/>
        </p:nvSpPr>
        <p:spPr>
          <a:xfrm>
            <a:off x="6080760" y="3118104"/>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3044952"/>
            <a:ext cx="5257800" cy="1005839"/>
          </a:xfrm>
          <a:prstGeom prst="rect">
            <a:avLst/>
          </a:prstGeom>
          <a:noFill/>
        </p:spPr>
        <p:txBody>
          <a:bodyPr wrap="square" lIns="27432" rIns="27432" tIns="18288" bIns="18288">
            <a:spAutoFit/>
          </a:bodyPr>
          <a:lstStyle/>
          <a:p>
            <a:pPr algn="l">
              <a:spcAft>
                <a:spcPts val="500"/>
              </a:spcAft>
              <a:defRPr sz="2100" b="0">
                <a:solidFill>
                  <a:srgbClr val="183247"/>
                </a:solidFill>
                <a:latin typeface="Arial"/>
              </a:defRPr>
            </a:pPr>
            <a:r>
              <a:t>The United States and Europe are major established markets</a:t>
            </a:r>
          </a:p>
        </p:txBody>
      </p:sp>
      <p:sp>
        <p:nvSpPr>
          <p:cNvPr id="15" name="Rectangle 14"/>
          <p:cNvSpPr/>
          <p:nvPr/>
        </p:nvSpPr>
        <p:spPr>
          <a:xfrm>
            <a:off x="6080760" y="4215383"/>
            <a:ext cx="73152" cy="22860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4142231"/>
            <a:ext cx="5257800" cy="1005839"/>
          </a:xfrm>
          <a:prstGeom prst="rect">
            <a:avLst/>
          </a:prstGeom>
          <a:noFill/>
        </p:spPr>
        <p:txBody>
          <a:bodyPr wrap="square" lIns="27432" rIns="27432" tIns="18288" bIns="18288">
            <a:spAutoFit/>
          </a:bodyPr>
          <a:lstStyle/>
          <a:p>
            <a:pPr algn="l">
              <a:spcAft>
                <a:spcPts val="500"/>
              </a:spcAft>
              <a:defRPr sz="2100" b="0">
                <a:solidFill>
                  <a:srgbClr val="183247"/>
                </a:solidFill>
                <a:latin typeface="Arial"/>
              </a:defRPr>
            </a:pPr>
            <a:r>
              <a:t>North Sea development illustrates the importance of offshore resources</a:t>
            </a:r>
          </a:p>
        </p:txBody>
      </p:sp>
      <p:sp>
        <p:nvSpPr>
          <p:cNvPr id="17" name="TextBox 16"/>
          <p:cNvSpPr txBox="1"/>
          <p:nvPr/>
        </p:nvSpPr>
        <p:spPr>
          <a:xfrm>
            <a:off x="731520" y="5605272"/>
            <a:ext cx="10698480" cy="548640"/>
          </a:xfrm>
          <a:prstGeom prst="rect">
            <a:avLst/>
          </a:prstGeom>
          <a:noFill/>
        </p:spPr>
        <p:txBody>
          <a:bodyPr wrap="square" lIns="27432" rIns="27432" tIns="18288" bIns="18288">
            <a:spAutoFit/>
          </a:bodyPr>
          <a:lstStyle/>
          <a:p>
            <a:pPr algn="l">
              <a:spcAft>
                <a:spcPts val="500"/>
              </a:spcAft>
              <a:defRPr sz="1900" b="1">
                <a:solidFill>
                  <a:srgbClr val="008D91"/>
                </a:solidFill>
                <a:latin typeface="Arial"/>
              </a:defRPr>
            </a:pPr>
            <a:r>
              <a:t>Capacity (GW / TW) ≠ annual generation (GWh / TWh) ≠ dependable output at a system peak.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Regional example: China</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Strong resources must be connected to demand</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R4,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11</a:t>
            </a:r>
          </a:p>
        </p:txBody>
      </p:sp>
      <p:sp>
        <p:nvSpPr>
          <p:cNvPr id="8" name="Rounded Rectangle 7"/>
          <p:cNvSpPr/>
          <p:nvPr/>
        </p:nvSpPr>
        <p:spPr>
          <a:xfrm>
            <a:off x="594360" y="1783080"/>
            <a:ext cx="5349240"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4864" cy="219456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47672"/>
            <a:ext cx="4983479"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ONSHORE RESOURCE</a:t>
            </a:r>
          </a:p>
        </p:txBody>
      </p:sp>
      <p:sp>
        <p:nvSpPr>
          <p:cNvPr id="11" name="TextBox 10"/>
          <p:cNvSpPr txBox="1"/>
          <p:nvPr/>
        </p:nvSpPr>
        <p:spPr>
          <a:xfrm>
            <a:off x="777240" y="2560320"/>
            <a:ext cx="4983479" cy="1325880"/>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Northern / western regions</a:t>
            </a:r>
          </a:p>
          <a:p>
            <a:pPr algn="l">
              <a:spcAft>
                <a:spcPts val="500"/>
              </a:spcAft>
              <a:defRPr sz="2000" b="0">
                <a:solidFill>
                  <a:srgbClr val="183247"/>
                </a:solidFill>
                <a:latin typeface="Arial"/>
              </a:defRPr>
            </a:pPr>
            <a:r>
              <a:t>Resource–demand distance matters</a:t>
            </a:r>
          </a:p>
        </p:txBody>
      </p:sp>
      <p:sp>
        <p:nvSpPr>
          <p:cNvPr id="12" name="Rounded Rectangle 11"/>
          <p:cNvSpPr/>
          <p:nvPr/>
        </p:nvSpPr>
        <p:spPr>
          <a:xfrm>
            <a:off x="6172200" y="1783080"/>
            <a:ext cx="5394960"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783080"/>
            <a:ext cx="54864" cy="2194560"/>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947672"/>
            <a:ext cx="5029200" cy="502920"/>
          </a:xfrm>
          <a:prstGeom prst="rect">
            <a:avLst/>
          </a:prstGeom>
          <a:noFill/>
        </p:spPr>
        <p:txBody>
          <a:bodyPr wrap="square" lIns="27432" rIns="27432" tIns="18288" bIns="18288">
            <a:spAutoFit/>
          </a:bodyPr>
          <a:lstStyle/>
          <a:p>
            <a:pPr algn="l">
              <a:spcAft>
                <a:spcPts val="500"/>
              </a:spcAft>
              <a:defRPr sz="2200" b="1">
                <a:solidFill>
                  <a:srgbClr val="008D91"/>
                </a:solidFill>
                <a:latin typeface="Arial"/>
              </a:defRPr>
            </a:pPr>
            <a:r>
              <a:t>OFFSHORE OPPORTUNITY</a:t>
            </a:r>
          </a:p>
        </p:txBody>
      </p:sp>
      <p:sp>
        <p:nvSpPr>
          <p:cNvPr id="15" name="TextBox 14"/>
          <p:cNvSpPr txBox="1"/>
          <p:nvPr/>
        </p:nvSpPr>
        <p:spPr>
          <a:xfrm>
            <a:off x="6355080" y="2560320"/>
            <a:ext cx="5029200" cy="1325880"/>
          </a:xfrm>
          <a:prstGeom prst="rect">
            <a:avLst/>
          </a:prstGeom>
          <a:noFill/>
        </p:spPr>
        <p:txBody>
          <a:bodyPr wrap="square" lIns="27432" rIns="27432" tIns="18288" bIns="18288">
            <a:spAutoFit/>
          </a:bodyPr>
          <a:lstStyle/>
          <a:p>
            <a:pPr algn="l">
              <a:spcAft>
                <a:spcPts val="500"/>
              </a:spcAft>
              <a:defRPr sz="2000" b="0">
                <a:solidFill>
                  <a:srgbClr val="183247"/>
                </a:solidFill>
                <a:latin typeface="Arial"/>
              </a:defRPr>
            </a:pPr>
            <a:r>
              <a:t>Coastal development</a:t>
            </a:r>
          </a:p>
          <a:p>
            <a:pPr algn="l">
              <a:spcAft>
                <a:spcPts val="500"/>
              </a:spcAft>
              <a:defRPr sz="2000" b="0">
                <a:solidFill>
                  <a:srgbClr val="183247"/>
                </a:solidFill>
                <a:latin typeface="Arial"/>
              </a:defRPr>
            </a:pPr>
            <a:r>
              <a:t>Marine engineering adds complexity</a:t>
            </a:r>
          </a:p>
        </p:txBody>
      </p:sp>
      <p:sp>
        <p:nvSpPr>
          <p:cNvPr id="16" name="Rounded Rectangle 15"/>
          <p:cNvSpPr/>
          <p:nvPr/>
        </p:nvSpPr>
        <p:spPr>
          <a:xfrm>
            <a:off x="731520" y="4663440"/>
            <a:ext cx="2514600" cy="731520"/>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4809744"/>
            <a:ext cx="2386584" cy="438912"/>
          </a:xfrm>
          <a:prstGeom prst="rect">
            <a:avLst/>
          </a:prstGeom>
          <a:noFill/>
        </p:spPr>
        <p:txBody>
          <a:bodyPr wrap="square" lIns="27432" rIns="27432" tIns="18288" bIns="18288">
            <a:spAutoFit/>
          </a:bodyPr>
          <a:lstStyle/>
          <a:p>
            <a:pPr algn="ctr">
              <a:spcAft>
                <a:spcPts val="500"/>
              </a:spcAft>
              <a:defRPr sz="2000" b="1">
                <a:solidFill>
                  <a:srgbClr val="183247"/>
                </a:solidFill>
                <a:latin typeface="Arial"/>
              </a:defRPr>
            </a:pPr>
            <a:r>
              <a:t>Forecasting</a:t>
            </a:r>
          </a:p>
        </p:txBody>
      </p:sp>
      <p:cxnSp>
        <p:nvCxnSpPr>
          <p:cNvPr id="18" name="Connector 17"/>
          <p:cNvCxnSpPr/>
          <p:nvPr/>
        </p:nvCxnSpPr>
        <p:spPr>
          <a:xfrm>
            <a:off x="3246120" y="50292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3465576" y="49469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02736" y="4663440"/>
            <a:ext cx="2514600" cy="731520"/>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66744" y="4809744"/>
            <a:ext cx="2386584" cy="438912"/>
          </a:xfrm>
          <a:prstGeom prst="rect">
            <a:avLst/>
          </a:prstGeom>
          <a:noFill/>
        </p:spPr>
        <p:txBody>
          <a:bodyPr wrap="square" lIns="27432" rIns="27432" tIns="18288" bIns="18288">
            <a:spAutoFit/>
          </a:bodyPr>
          <a:lstStyle/>
          <a:p>
            <a:pPr algn="ctr">
              <a:spcAft>
                <a:spcPts val="500"/>
              </a:spcAft>
              <a:defRPr sz="2000" b="1">
                <a:solidFill>
                  <a:srgbClr val="183247"/>
                </a:solidFill>
                <a:latin typeface="Arial"/>
              </a:defRPr>
            </a:pPr>
            <a:r>
              <a:t>Transmission</a:t>
            </a:r>
          </a:p>
        </p:txBody>
      </p:sp>
      <p:cxnSp>
        <p:nvCxnSpPr>
          <p:cNvPr id="22" name="Connector 21"/>
          <p:cNvCxnSpPr/>
          <p:nvPr/>
        </p:nvCxnSpPr>
        <p:spPr>
          <a:xfrm>
            <a:off x="6117336" y="50292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6336792" y="49469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73952" y="4663440"/>
            <a:ext cx="2514600" cy="731520"/>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4809744"/>
            <a:ext cx="2386584" cy="438912"/>
          </a:xfrm>
          <a:prstGeom prst="rect">
            <a:avLst/>
          </a:prstGeom>
          <a:noFill/>
        </p:spPr>
        <p:txBody>
          <a:bodyPr wrap="square" lIns="27432" rIns="27432" tIns="18288" bIns="18288">
            <a:spAutoFit/>
          </a:bodyPr>
          <a:lstStyle/>
          <a:p>
            <a:pPr algn="ctr">
              <a:spcAft>
                <a:spcPts val="500"/>
              </a:spcAft>
              <a:defRPr sz="2000" b="1">
                <a:solidFill>
                  <a:srgbClr val="183247"/>
                </a:solidFill>
                <a:latin typeface="Arial"/>
              </a:defRPr>
            </a:pPr>
            <a:r>
              <a:t>Flexibility</a:t>
            </a:r>
          </a:p>
        </p:txBody>
      </p:sp>
      <p:cxnSp>
        <p:nvCxnSpPr>
          <p:cNvPr id="26" name="Connector 25"/>
          <p:cNvCxnSpPr/>
          <p:nvPr/>
        </p:nvCxnSpPr>
        <p:spPr>
          <a:xfrm>
            <a:off x="8988552" y="5029200"/>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208008" y="4946904"/>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45168" y="4663440"/>
            <a:ext cx="2514600" cy="731520"/>
          </a:xfrm>
          <a:prstGeom prst="roundRect">
            <a:avLst>
              <a:gd name="adj" fmla="val 12000"/>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09176" y="4809744"/>
            <a:ext cx="2386584" cy="438912"/>
          </a:xfrm>
          <a:prstGeom prst="rect">
            <a:avLst/>
          </a:prstGeom>
          <a:noFill/>
        </p:spPr>
        <p:txBody>
          <a:bodyPr wrap="square" lIns="27432" rIns="27432" tIns="18288" bIns="18288">
            <a:spAutoFit/>
          </a:bodyPr>
          <a:lstStyle/>
          <a:p>
            <a:pPr algn="ctr">
              <a:spcAft>
                <a:spcPts val="500"/>
              </a:spcAft>
              <a:defRPr sz="2000" b="1">
                <a:solidFill>
                  <a:srgbClr val="FFFFFF"/>
                </a:solidFill>
                <a:latin typeface="Arial"/>
              </a:defRPr>
            </a:pPr>
            <a:r>
              <a:t>Useful delivery</a:t>
            </a:r>
          </a:p>
        </p:txBody>
      </p:sp>
      <p:sp>
        <p:nvSpPr>
          <p:cNvPr id="30" name="TextBox 29"/>
          <p:cNvSpPr txBox="1"/>
          <p:nvPr/>
        </p:nvSpPr>
        <p:spPr>
          <a:xfrm>
            <a:off x="777240" y="5678424"/>
            <a:ext cx="10607040" cy="438912"/>
          </a:xfrm>
          <a:prstGeom prst="rect">
            <a:avLst/>
          </a:prstGeom>
          <a:noFill/>
        </p:spPr>
        <p:txBody>
          <a:bodyPr wrap="square" lIns="27432" rIns="27432" tIns="18288" bIns="18288">
            <a:spAutoFit/>
          </a:bodyPr>
          <a:lstStyle/>
          <a:p>
            <a:pPr algn="l">
              <a:spcAft>
                <a:spcPts val="500"/>
              </a:spcAft>
              <a:defRPr sz="1700" b="0">
                <a:solidFill>
                  <a:srgbClr val="5C6F7E"/>
                </a:solidFill>
                <a:latin typeface="Arial"/>
              </a:defRPr>
            </a:pPr>
            <a:r>
              <a:t>Selected regional example: China. Storage is one flexibility option, not an automatic plant requirement.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Case study: Hornsea 2, United Kingdom</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A real offshore plant connects turbines, cables and the grid</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R6, R3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12</a:t>
            </a:r>
          </a:p>
        </p:txBody>
      </p:sp>
      <p:sp>
        <p:nvSpPr>
          <p:cNvPr id="8" name="Rounded Rectangle 7"/>
          <p:cNvSpPr/>
          <p:nvPr/>
        </p:nvSpPr>
        <p:spPr>
          <a:xfrm>
            <a:off x="640080" y="1737360"/>
            <a:ext cx="3520440" cy="1371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65376"/>
            <a:ext cx="3154680" cy="594360"/>
          </a:xfrm>
          <a:prstGeom prst="rect">
            <a:avLst/>
          </a:prstGeom>
          <a:noFill/>
        </p:spPr>
        <p:txBody>
          <a:bodyPr wrap="square" lIns="27432" rIns="27432" tIns="18288" bIns="18288">
            <a:spAutoFit/>
          </a:bodyPr>
          <a:lstStyle/>
          <a:p>
            <a:pPr algn="l">
              <a:spcAft>
                <a:spcPts val="500"/>
              </a:spcAft>
              <a:defRPr sz="3000" b="1">
                <a:solidFill>
                  <a:srgbClr val="008D91"/>
                </a:solidFill>
                <a:latin typeface="Arial"/>
              </a:defRPr>
            </a:pPr>
            <a:r>
              <a:t>2022</a:t>
            </a:r>
          </a:p>
        </p:txBody>
      </p:sp>
      <p:sp>
        <p:nvSpPr>
          <p:cNvPr id="10" name="TextBox 9"/>
          <p:cNvSpPr txBox="1"/>
          <p:nvPr/>
        </p:nvSpPr>
        <p:spPr>
          <a:xfrm>
            <a:off x="822960" y="2514600"/>
            <a:ext cx="3154680" cy="365760"/>
          </a:xfrm>
          <a:prstGeom prst="rect">
            <a:avLst/>
          </a:prstGeom>
          <a:noFill/>
        </p:spPr>
        <p:txBody>
          <a:bodyPr wrap="square" lIns="27432" rIns="27432" tIns="18288" bIns="18288">
            <a:spAutoFit/>
          </a:bodyPr>
          <a:lstStyle/>
          <a:p>
            <a:pPr algn="l">
              <a:spcAft>
                <a:spcPts val="500"/>
              </a:spcAft>
              <a:defRPr sz="1700" b="0">
                <a:solidFill>
                  <a:srgbClr val="5C6F7E"/>
                </a:solidFill>
                <a:latin typeface="Arial"/>
              </a:defRPr>
            </a:pPr>
            <a:r>
              <a:t>Fully operational</a:t>
            </a:r>
          </a:p>
        </p:txBody>
      </p:sp>
      <p:sp>
        <p:nvSpPr>
          <p:cNvPr id="11" name="Rounded Rectangle 10"/>
          <p:cNvSpPr/>
          <p:nvPr/>
        </p:nvSpPr>
        <p:spPr>
          <a:xfrm>
            <a:off x="4416552" y="1737360"/>
            <a:ext cx="3520440" cy="1371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865376"/>
            <a:ext cx="3154680" cy="594360"/>
          </a:xfrm>
          <a:prstGeom prst="rect">
            <a:avLst/>
          </a:prstGeom>
          <a:noFill/>
        </p:spPr>
        <p:txBody>
          <a:bodyPr wrap="square" lIns="27432" rIns="27432" tIns="18288" bIns="18288">
            <a:spAutoFit/>
          </a:bodyPr>
          <a:lstStyle/>
          <a:p>
            <a:pPr algn="l">
              <a:spcAft>
                <a:spcPts val="500"/>
              </a:spcAft>
              <a:defRPr sz="3000" b="1">
                <a:solidFill>
                  <a:srgbClr val="008D91"/>
                </a:solidFill>
                <a:latin typeface="Arial"/>
              </a:defRPr>
            </a:pPr>
            <a:r>
              <a:t>165 × 8 MW</a:t>
            </a:r>
          </a:p>
        </p:txBody>
      </p:sp>
      <p:sp>
        <p:nvSpPr>
          <p:cNvPr id="13" name="TextBox 12"/>
          <p:cNvSpPr txBox="1"/>
          <p:nvPr/>
        </p:nvSpPr>
        <p:spPr>
          <a:xfrm>
            <a:off x="4599432" y="2514600"/>
            <a:ext cx="3154680" cy="365760"/>
          </a:xfrm>
          <a:prstGeom prst="rect">
            <a:avLst/>
          </a:prstGeom>
          <a:noFill/>
        </p:spPr>
        <p:txBody>
          <a:bodyPr wrap="square" lIns="27432" rIns="27432" tIns="18288" bIns="18288">
            <a:spAutoFit/>
          </a:bodyPr>
          <a:lstStyle/>
          <a:p>
            <a:pPr algn="l">
              <a:spcAft>
                <a:spcPts val="500"/>
              </a:spcAft>
              <a:defRPr sz="1700" b="0">
                <a:solidFill>
                  <a:srgbClr val="5C6F7E"/>
                </a:solidFill>
                <a:latin typeface="Arial"/>
              </a:defRPr>
            </a:pPr>
            <a:r>
              <a:t>Turbine fleet</a:t>
            </a:r>
          </a:p>
        </p:txBody>
      </p:sp>
      <p:sp>
        <p:nvSpPr>
          <p:cNvPr id="14" name="Rounded Rectangle 13"/>
          <p:cNvSpPr/>
          <p:nvPr/>
        </p:nvSpPr>
        <p:spPr>
          <a:xfrm>
            <a:off x="8193023" y="1737360"/>
            <a:ext cx="3520440" cy="1371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1865376"/>
            <a:ext cx="3154680" cy="594360"/>
          </a:xfrm>
          <a:prstGeom prst="rect">
            <a:avLst/>
          </a:prstGeom>
          <a:noFill/>
        </p:spPr>
        <p:txBody>
          <a:bodyPr wrap="square" lIns="27432" rIns="27432" tIns="18288" bIns="18288">
            <a:spAutoFit/>
          </a:bodyPr>
          <a:lstStyle/>
          <a:p>
            <a:pPr algn="l">
              <a:spcAft>
                <a:spcPts val="500"/>
              </a:spcAft>
              <a:defRPr sz="3000" b="1">
                <a:solidFill>
                  <a:srgbClr val="008D91"/>
                </a:solidFill>
                <a:latin typeface="Arial"/>
              </a:defRPr>
            </a:pPr>
            <a:r>
              <a:t>~1.3 GW</a:t>
            </a:r>
          </a:p>
        </p:txBody>
      </p:sp>
      <p:sp>
        <p:nvSpPr>
          <p:cNvPr id="16" name="TextBox 15"/>
          <p:cNvSpPr txBox="1"/>
          <p:nvPr/>
        </p:nvSpPr>
        <p:spPr>
          <a:xfrm>
            <a:off x="8375904" y="2514600"/>
            <a:ext cx="3154680" cy="365760"/>
          </a:xfrm>
          <a:prstGeom prst="rect">
            <a:avLst/>
          </a:prstGeom>
          <a:noFill/>
        </p:spPr>
        <p:txBody>
          <a:bodyPr wrap="square" lIns="27432" rIns="27432" tIns="18288" bIns="18288">
            <a:spAutoFit/>
          </a:bodyPr>
          <a:lstStyle/>
          <a:p>
            <a:pPr algn="l">
              <a:spcAft>
                <a:spcPts val="500"/>
              </a:spcAft>
              <a:defRPr sz="1700" b="0">
                <a:solidFill>
                  <a:srgbClr val="5C6F7E"/>
                </a:solidFill>
                <a:latin typeface="Arial"/>
              </a:defRPr>
            </a:pPr>
            <a:r>
              <a:t>Rated capacity</a:t>
            </a:r>
          </a:p>
        </p:txBody>
      </p:sp>
      <p:sp>
        <p:nvSpPr>
          <p:cNvPr id="17" name="Rounded Rectangle 16"/>
          <p:cNvSpPr/>
          <p:nvPr/>
        </p:nvSpPr>
        <p:spPr>
          <a:xfrm>
            <a:off x="640080" y="3822191"/>
            <a:ext cx="4572000" cy="1691640"/>
          </a:xfrm>
          <a:prstGeom prst="roundRect">
            <a:avLst>
              <a:gd name="adj" fmla="val 12000"/>
            </a:avLst>
          </a:prstGeom>
          <a:solidFill>
            <a:srgbClr val="E0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554480" y="4261104"/>
            <a:ext cx="0" cy="636422"/>
          </a:xfrm>
          <a:prstGeom prst="line">
            <a:avLst/>
          </a:prstGeom>
          <a:ln w="63500">
            <a:solidFill>
              <a:srgbClr val="5C6F7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533997" y="4204045"/>
            <a:ext cx="40965" cy="40965"/>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1554480" y="3917289"/>
            <a:ext cx="0" cy="30723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554480" y="4224528"/>
            <a:ext cx="266076" cy="15361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288403" y="4224528"/>
            <a:ext cx="266077" cy="15361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88920" y="4261104"/>
            <a:ext cx="0" cy="636422"/>
          </a:xfrm>
          <a:prstGeom prst="line">
            <a:avLst/>
          </a:prstGeom>
          <a:ln w="63500">
            <a:solidFill>
              <a:srgbClr val="5C6F7E"/>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768437" y="4204045"/>
            <a:ext cx="40965" cy="40965"/>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2788920" y="3917289"/>
            <a:ext cx="0" cy="30723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788920" y="4224528"/>
            <a:ext cx="266076" cy="15361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522843" y="4224528"/>
            <a:ext cx="266077" cy="15361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023360" y="4261104"/>
            <a:ext cx="0" cy="636422"/>
          </a:xfrm>
          <a:prstGeom prst="line">
            <a:avLst/>
          </a:prstGeom>
          <a:ln w="63500">
            <a:solidFill>
              <a:srgbClr val="5C6F7E"/>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002877" y="4204045"/>
            <a:ext cx="40965" cy="40965"/>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4023360" y="3917289"/>
            <a:ext cx="0" cy="30723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023360" y="4224528"/>
            <a:ext cx="266076" cy="15361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3757283" y="4224528"/>
            <a:ext cx="266077" cy="153619"/>
          </a:xfrm>
          <a:prstGeom prst="line">
            <a:avLst/>
          </a:prstGeom>
          <a:ln w="36576">
            <a:solidFill>
              <a:srgbClr val="008D91"/>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40680" y="4023360"/>
            <a:ext cx="1719072" cy="1024128"/>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95544" y="4142232"/>
            <a:ext cx="1609344" cy="731520"/>
          </a:xfrm>
          <a:prstGeom prst="rect">
            <a:avLst/>
          </a:prstGeom>
          <a:noFill/>
        </p:spPr>
        <p:txBody>
          <a:bodyPr wrap="square" lIns="27432" rIns="27432" tIns="18288" bIns="18288">
            <a:spAutoFit/>
          </a:bodyPr>
          <a:lstStyle/>
          <a:p>
            <a:pPr algn="ctr">
              <a:spcAft>
                <a:spcPts val="500"/>
              </a:spcAft>
              <a:defRPr sz="1800" b="1">
                <a:solidFill>
                  <a:srgbClr val="183247"/>
                </a:solidFill>
                <a:latin typeface="Arial"/>
              </a:defRPr>
            </a:pPr>
            <a:r>
              <a:t>Offshore</a:t>
            </a:r>
          </a:p>
          <a:p>
            <a:pPr algn="ctr">
              <a:spcAft>
                <a:spcPts val="500"/>
              </a:spcAft>
              <a:defRPr sz="1800" b="1">
                <a:solidFill>
                  <a:srgbClr val="183247"/>
                </a:solidFill>
                <a:latin typeface="Arial"/>
              </a:defRPr>
            </a:pPr>
            <a:r>
              <a:t>substation</a:t>
            </a:r>
          </a:p>
        </p:txBody>
      </p:sp>
      <p:sp>
        <p:nvSpPr>
          <p:cNvPr id="35" name="Rounded Rectangle 34"/>
          <p:cNvSpPr/>
          <p:nvPr/>
        </p:nvSpPr>
        <p:spPr>
          <a:xfrm>
            <a:off x="7498079" y="4023360"/>
            <a:ext cx="1719072" cy="1024128"/>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52944" y="4142232"/>
            <a:ext cx="1609344" cy="731520"/>
          </a:xfrm>
          <a:prstGeom prst="rect">
            <a:avLst/>
          </a:prstGeom>
          <a:noFill/>
        </p:spPr>
        <p:txBody>
          <a:bodyPr wrap="square" lIns="27432" rIns="27432" tIns="18288" bIns="18288">
            <a:spAutoFit/>
          </a:bodyPr>
          <a:lstStyle/>
          <a:p>
            <a:pPr algn="ctr">
              <a:spcAft>
                <a:spcPts val="500"/>
              </a:spcAft>
              <a:defRPr sz="1800" b="1">
                <a:solidFill>
                  <a:srgbClr val="183247"/>
                </a:solidFill>
                <a:latin typeface="Arial"/>
              </a:defRPr>
            </a:pPr>
            <a:r>
              <a:t>Export</a:t>
            </a:r>
          </a:p>
          <a:p>
            <a:pPr algn="ctr">
              <a:spcAft>
                <a:spcPts val="500"/>
              </a:spcAft>
              <a:defRPr sz="1800" b="1">
                <a:solidFill>
                  <a:srgbClr val="183247"/>
                </a:solidFill>
                <a:latin typeface="Arial"/>
              </a:defRPr>
            </a:pPr>
            <a:r>
              <a:t>cables</a:t>
            </a:r>
          </a:p>
        </p:txBody>
      </p:sp>
      <p:sp>
        <p:nvSpPr>
          <p:cNvPr id="37" name="Rounded Rectangle 36"/>
          <p:cNvSpPr/>
          <p:nvPr/>
        </p:nvSpPr>
        <p:spPr>
          <a:xfrm>
            <a:off x="9555480" y="4023360"/>
            <a:ext cx="1719072" cy="1024128"/>
          </a:xfrm>
          <a:prstGeom prst="roundRect">
            <a:avLst>
              <a:gd name="adj" fmla="val 12000"/>
            </a:avLst>
          </a:prstGeom>
          <a:solidFill>
            <a:srgbClr val="E5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10344" y="4142232"/>
            <a:ext cx="1609344" cy="731520"/>
          </a:xfrm>
          <a:prstGeom prst="rect">
            <a:avLst/>
          </a:prstGeom>
          <a:noFill/>
        </p:spPr>
        <p:txBody>
          <a:bodyPr wrap="square" lIns="27432" rIns="27432" tIns="18288" bIns="18288">
            <a:spAutoFit/>
          </a:bodyPr>
          <a:lstStyle/>
          <a:p>
            <a:pPr algn="ctr">
              <a:spcAft>
                <a:spcPts val="500"/>
              </a:spcAft>
              <a:defRPr sz="1800" b="1">
                <a:solidFill>
                  <a:srgbClr val="183247"/>
                </a:solidFill>
                <a:latin typeface="Arial"/>
              </a:defRPr>
            </a:pPr>
            <a:r>
              <a:t>Onshore</a:t>
            </a:r>
          </a:p>
          <a:p>
            <a:pPr algn="ctr">
              <a:spcAft>
                <a:spcPts val="500"/>
              </a:spcAft>
              <a:defRPr sz="1800" b="1">
                <a:solidFill>
                  <a:srgbClr val="183247"/>
                </a:solidFill>
                <a:latin typeface="Arial"/>
              </a:defRPr>
            </a:pPr>
            <a:r>
              <a:t>grid</a:t>
            </a:r>
          </a:p>
        </p:txBody>
      </p:sp>
      <p:cxnSp>
        <p:nvCxnSpPr>
          <p:cNvPr id="39" name="Connector 38"/>
          <p:cNvCxnSpPr/>
          <p:nvPr/>
        </p:nvCxnSpPr>
        <p:spPr>
          <a:xfrm>
            <a:off x="5212080" y="4553712"/>
            <a:ext cx="210312"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40" name="Chevron 39"/>
          <p:cNvSpPr/>
          <p:nvPr/>
        </p:nvSpPr>
        <p:spPr>
          <a:xfrm>
            <a:off x="5321807" y="4471416"/>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7168896" y="4553712"/>
            <a:ext cx="310896"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42" name="Chevron 41"/>
          <p:cNvSpPr/>
          <p:nvPr/>
        </p:nvSpPr>
        <p:spPr>
          <a:xfrm>
            <a:off x="7379208" y="4471416"/>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9217152" y="4553712"/>
            <a:ext cx="320040" cy="0"/>
          </a:xfrm>
          <a:prstGeom prst="line">
            <a:avLst/>
          </a:prstGeom>
          <a:ln w="38100">
            <a:solidFill>
              <a:srgbClr val="008D91"/>
            </a:solidFill>
          </a:ln>
        </p:spPr>
        <p:style>
          <a:lnRef idx="2">
            <a:schemeClr val="accent1"/>
          </a:lnRef>
          <a:fillRef idx="0">
            <a:schemeClr val="accent1"/>
          </a:fillRef>
          <a:effectRef idx="1">
            <a:schemeClr val="accent1"/>
          </a:effectRef>
          <a:fontRef idx="minor">
            <a:schemeClr val="tx1"/>
          </a:fontRef>
        </p:style>
      </p:cxnSp>
      <p:sp>
        <p:nvSpPr>
          <p:cNvPr id="44" name="Chevron 43"/>
          <p:cNvSpPr/>
          <p:nvPr/>
        </p:nvSpPr>
        <p:spPr>
          <a:xfrm>
            <a:off x="9436608" y="4471416"/>
            <a:ext cx="164592" cy="164592"/>
          </a:xfrm>
          <a:prstGeom prst="chevron">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715000"/>
            <a:ext cx="10607040" cy="41148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Original functional schematic. Approximate rated capacity is not continuous output or annual energy.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How wind compares with other power plants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Compare services and constraints, not one metric alone</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R1, R3, R5</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13</a:t>
            </a:r>
          </a:p>
        </p:txBody>
      </p:sp>
      <p:sp>
        <p:nvSpPr>
          <p:cNvPr id="8" name="Rectangle 7"/>
          <p:cNvSpPr/>
          <p:nvPr/>
        </p:nvSpPr>
        <p:spPr>
          <a:xfrm>
            <a:off x="640080" y="1810512"/>
            <a:ext cx="2295144" cy="667512"/>
          </a:xfrm>
          <a:prstGeom prst="rect">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938528"/>
            <a:ext cx="2075687" cy="438912"/>
          </a:xfrm>
          <a:prstGeom prst="rect">
            <a:avLst/>
          </a:prstGeom>
          <a:noFill/>
        </p:spPr>
        <p:txBody>
          <a:bodyPr wrap="square" lIns="27432" rIns="27432" tIns="18288" bIns="18288">
            <a:spAutoFit/>
          </a:bodyPr>
          <a:lstStyle/>
          <a:p>
            <a:pPr algn="l">
              <a:spcAft>
                <a:spcPts val="500"/>
              </a:spcAft>
              <a:defRPr sz="1800" b="1">
                <a:solidFill>
                  <a:srgbClr val="FFFFFF"/>
                </a:solidFill>
                <a:latin typeface="Arial"/>
              </a:defRPr>
            </a:pPr>
            <a:r>
              <a:t>Technology</a:t>
            </a:r>
          </a:p>
        </p:txBody>
      </p:sp>
      <p:sp>
        <p:nvSpPr>
          <p:cNvPr id="10" name="Rectangle 9"/>
          <p:cNvSpPr/>
          <p:nvPr/>
        </p:nvSpPr>
        <p:spPr>
          <a:xfrm>
            <a:off x="2971800" y="1810512"/>
            <a:ext cx="3986784" cy="667512"/>
          </a:xfrm>
          <a:prstGeom prst="rect">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1528" y="1938528"/>
            <a:ext cx="3767328" cy="438912"/>
          </a:xfrm>
          <a:prstGeom prst="rect">
            <a:avLst/>
          </a:prstGeom>
          <a:noFill/>
        </p:spPr>
        <p:txBody>
          <a:bodyPr wrap="square" lIns="27432" rIns="27432" tIns="18288" bIns="18288">
            <a:spAutoFit/>
          </a:bodyPr>
          <a:lstStyle/>
          <a:p>
            <a:pPr algn="l">
              <a:spcAft>
                <a:spcPts val="500"/>
              </a:spcAft>
              <a:defRPr sz="1800" b="1">
                <a:solidFill>
                  <a:srgbClr val="FFFFFF"/>
                </a:solidFill>
                <a:latin typeface="Arial"/>
              </a:defRPr>
            </a:pPr>
            <a:r>
              <a:t>Main strength</a:t>
            </a:r>
          </a:p>
        </p:txBody>
      </p:sp>
      <p:sp>
        <p:nvSpPr>
          <p:cNvPr id="12" name="Rectangle 11"/>
          <p:cNvSpPr/>
          <p:nvPr/>
        </p:nvSpPr>
        <p:spPr>
          <a:xfrm>
            <a:off x="6995160" y="1810512"/>
            <a:ext cx="4535424" cy="667512"/>
          </a:xfrm>
          <a:prstGeom prst="rect">
            <a:avLst/>
          </a:prstGeom>
          <a:solidFill>
            <a:srgbClr val="10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04888" y="1938528"/>
            <a:ext cx="4315968" cy="438912"/>
          </a:xfrm>
          <a:prstGeom prst="rect">
            <a:avLst/>
          </a:prstGeom>
          <a:noFill/>
        </p:spPr>
        <p:txBody>
          <a:bodyPr wrap="square" lIns="27432" rIns="27432" tIns="18288" bIns="18288">
            <a:spAutoFit/>
          </a:bodyPr>
          <a:lstStyle/>
          <a:p>
            <a:pPr algn="l">
              <a:spcAft>
                <a:spcPts val="500"/>
              </a:spcAft>
              <a:defRPr sz="1800" b="1">
                <a:solidFill>
                  <a:srgbClr val="FFFFFF"/>
                </a:solidFill>
                <a:latin typeface="Arial"/>
              </a:defRPr>
            </a:pPr>
            <a:r>
              <a:t>Main constraint</a:t>
            </a:r>
          </a:p>
        </p:txBody>
      </p:sp>
      <p:sp>
        <p:nvSpPr>
          <p:cNvPr id="14" name="Rectangle 13"/>
          <p:cNvSpPr/>
          <p:nvPr/>
        </p:nvSpPr>
        <p:spPr>
          <a:xfrm>
            <a:off x="640080" y="2523744"/>
            <a:ext cx="229514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651760"/>
            <a:ext cx="2075687"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Wind</a:t>
            </a:r>
          </a:p>
        </p:txBody>
      </p:sp>
      <p:sp>
        <p:nvSpPr>
          <p:cNvPr id="16" name="Rectangle 15"/>
          <p:cNvSpPr/>
          <p:nvPr/>
        </p:nvSpPr>
        <p:spPr>
          <a:xfrm>
            <a:off x="2971800" y="2523744"/>
            <a:ext cx="398678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81528" y="2651760"/>
            <a:ext cx="376732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Low-carbon; no fuel purchase</a:t>
            </a:r>
          </a:p>
        </p:txBody>
      </p:sp>
      <p:sp>
        <p:nvSpPr>
          <p:cNvPr id="18" name="Rectangle 17"/>
          <p:cNvSpPr/>
          <p:nvPr/>
        </p:nvSpPr>
        <p:spPr>
          <a:xfrm>
            <a:off x="6995160" y="2523744"/>
            <a:ext cx="453542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04888" y="2651760"/>
            <a:ext cx="431596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Variable wind resource</a:t>
            </a:r>
          </a:p>
        </p:txBody>
      </p:sp>
      <p:sp>
        <p:nvSpPr>
          <p:cNvPr id="20" name="Rectangle 19"/>
          <p:cNvSpPr/>
          <p:nvPr/>
        </p:nvSpPr>
        <p:spPr>
          <a:xfrm>
            <a:off x="640080" y="3236976"/>
            <a:ext cx="229514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3364992"/>
            <a:ext cx="2075687"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Gas</a:t>
            </a:r>
          </a:p>
        </p:txBody>
      </p:sp>
      <p:sp>
        <p:nvSpPr>
          <p:cNvPr id="22" name="Rectangle 21"/>
          <p:cNvSpPr/>
          <p:nvPr/>
        </p:nvSpPr>
        <p:spPr>
          <a:xfrm>
            <a:off x="2971800" y="3236976"/>
            <a:ext cx="398678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81528" y="3364992"/>
            <a:ext cx="376732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Controllable within limits</a:t>
            </a:r>
          </a:p>
        </p:txBody>
      </p:sp>
      <p:sp>
        <p:nvSpPr>
          <p:cNvPr id="24" name="Rectangle 23"/>
          <p:cNvSpPr/>
          <p:nvPr/>
        </p:nvSpPr>
        <p:spPr>
          <a:xfrm>
            <a:off x="6995160" y="3236976"/>
            <a:ext cx="453542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4888" y="3364992"/>
            <a:ext cx="431596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Fuel supply, cost and emissions</a:t>
            </a:r>
          </a:p>
        </p:txBody>
      </p:sp>
      <p:sp>
        <p:nvSpPr>
          <p:cNvPr id="26" name="Rectangle 25"/>
          <p:cNvSpPr/>
          <p:nvPr/>
        </p:nvSpPr>
        <p:spPr>
          <a:xfrm>
            <a:off x="640080" y="3950208"/>
            <a:ext cx="229514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078224"/>
            <a:ext cx="2075687"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Solar PV</a:t>
            </a:r>
          </a:p>
        </p:txBody>
      </p:sp>
      <p:sp>
        <p:nvSpPr>
          <p:cNvPr id="28" name="Rectangle 27"/>
          <p:cNvSpPr/>
          <p:nvPr/>
        </p:nvSpPr>
        <p:spPr>
          <a:xfrm>
            <a:off x="2971800" y="3950208"/>
            <a:ext cx="398678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81528" y="4078224"/>
            <a:ext cx="376732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Modular; low-carbon</a:t>
            </a:r>
          </a:p>
        </p:txBody>
      </p:sp>
      <p:sp>
        <p:nvSpPr>
          <p:cNvPr id="30" name="Rectangle 29"/>
          <p:cNvSpPr/>
          <p:nvPr/>
        </p:nvSpPr>
        <p:spPr>
          <a:xfrm>
            <a:off x="6995160" y="3950208"/>
            <a:ext cx="453542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04888" y="4078224"/>
            <a:ext cx="431596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Daylight and weather</a:t>
            </a:r>
          </a:p>
        </p:txBody>
      </p:sp>
      <p:sp>
        <p:nvSpPr>
          <p:cNvPr id="32" name="Rectangle 31"/>
          <p:cNvSpPr/>
          <p:nvPr/>
        </p:nvSpPr>
        <p:spPr>
          <a:xfrm>
            <a:off x="640080" y="4663440"/>
            <a:ext cx="229514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4791455"/>
            <a:ext cx="2075687"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Reservoir hydro</a:t>
            </a:r>
          </a:p>
        </p:txBody>
      </p:sp>
      <p:sp>
        <p:nvSpPr>
          <p:cNvPr id="34" name="Rectangle 33"/>
          <p:cNvSpPr/>
          <p:nvPr/>
        </p:nvSpPr>
        <p:spPr>
          <a:xfrm>
            <a:off x="2971800" y="4663440"/>
            <a:ext cx="398678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81528" y="4791455"/>
            <a:ext cx="376732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Flexible with available water</a:t>
            </a:r>
          </a:p>
        </p:txBody>
      </p:sp>
      <p:sp>
        <p:nvSpPr>
          <p:cNvPr id="36" name="Rectangle 35"/>
          <p:cNvSpPr/>
          <p:nvPr/>
        </p:nvSpPr>
        <p:spPr>
          <a:xfrm>
            <a:off x="6995160" y="4663440"/>
            <a:ext cx="4535424"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04888" y="4791455"/>
            <a:ext cx="4315968" cy="438912"/>
          </a:xfrm>
          <a:prstGeom prst="rect">
            <a:avLst/>
          </a:prstGeom>
          <a:noFill/>
        </p:spPr>
        <p:txBody>
          <a:bodyPr wrap="square" lIns="27432" rIns="27432" tIns="18288" bIns="18288">
            <a:spAutoFit/>
          </a:bodyPr>
          <a:lstStyle/>
          <a:p>
            <a:pPr algn="l">
              <a:spcAft>
                <a:spcPts val="500"/>
              </a:spcAft>
              <a:defRPr sz="1800" b="0">
                <a:solidFill>
                  <a:srgbClr val="183247"/>
                </a:solidFill>
                <a:latin typeface="Arial"/>
              </a:defRPr>
            </a:pPr>
            <a:r>
              <a:t>Sites, hydrology and ecology</a:t>
            </a:r>
          </a:p>
        </p:txBody>
      </p:sp>
      <p:sp>
        <p:nvSpPr>
          <p:cNvPr id="38" name="TextBox 37"/>
          <p:cNvSpPr txBox="1"/>
          <p:nvPr/>
        </p:nvSpPr>
        <p:spPr>
          <a:xfrm>
            <a:off x="749808" y="5687568"/>
            <a:ext cx="10515600" cy="411480"/>
          </a:xfrm>
          <a:prstGeom prst="rect">
            <a:avLst/>
          </a:prstGeom>
          <a:noFill/>
        </p:spPr>
        <p:txBody>
          <a:bodyPr wrap="square" lIns="27432" rIns="27432" tIns="18288" bIns="18288">
            <a:spAutoFit/>
          </a:bodyPr>
          <a:lstStyle/>
          <a:p>
            <a:pPr algn="l">
              <a:spcAft>
                <a:spcPts val="500"/>
              </a:spcAft>
              <a:defRPr sz="2000" b="1">
                <a:solidFill>
                  <a:srgbClr val="008D91"/>
                </a:solidFill>
                <a:latin typeface="Arial"/>
              </a:defRPr>
            </a:pPr>
            <a:r>
              <a:t>Evaluate energy, dependable capacity, flexibility, emissions and grid services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Three conclusions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Wind is a resource, a machine and a grid-connected plant</a:t>
            </a:r>
          </a:p>
        </p:txBody>
      </p:sp>
      <p:sp>
        <p:nvSpPr>
          <p:cNvPr id="5" name="TextBox 4"/>
          <p:cNvSpPr txBox="1"/>
          <p:nvPr/>
        </p:nvSpPr>
        <p:spPr>
          <a:xfrm>
            <a:off x="10835640" y="320040"/>
            <a:ext cx="914400" cy="502920"/>
          </a:xfrm>
          <a:prstGeom prst="rect">
            <a:avLst/>
          </a:prstGeom>
          <a:noFill/>
        </p:spPr>
        <p:txBody>
          <a:bodyPr wrap="square" lIns="27432" rIns="27432" tIns="18288" bIns="18288">
            <a:spAutoFit/>
          </a:bodyPr>
          <a:lstStyle/>
          <a:p>
            <a:pPr algn="r">
              <a:spcAft>
                <a:spcPts val="500"/>
              </a:spcAft>
              <a:defRPr sz="2000" b="1">
                <a:solidFill>
                  <a:srgbClr val="008D91"/>
                </a:solidFill>
                <a:latin typeface="Arial"/>
              </a:defRPr>
            </a:pPr>
            <a:r>
              <a:t>B</a:t>
            </a:r>
          </a:p>
        </p:txBody>
      </p:sp>
      <p:sp>
        <p:nvSpPr>
          <p:cNvPr id="6" name="TextBox 5"/>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R3, C2, C3</a:t>
            </a:r>
          </a:p>
        </p:txBody>
      </p:sp>
      <p:sp>
        <p:nvSpPr>
          <p:cNvPr id="7" name="TextBox 6"/>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14</a:t>
            </a:r>
          </a:p>
        </p:txBody>
      </p:sp>
      <p:sp>
        <p:nvSpPr>
          <p:cNvPr id="8" name="TextBox 7"/>
          <p:cNvSpPr txBox="1"/>
          <p:nvPr/>
        </p:nvSpPr>
        <p:spPr>
          <a:xfrm>
            <a:off x="685800" y="1828800"/>
            <a:ext cx="822960" cy="640080"/>
          </a:xfrm>
          <a:prstGeom prst="rect">
            <a:avLst/>
          </a:prstGeom>
          <a:noFill/>
        </p:spPr>
        <p:txBody>
          <a:bodyPr wrap="square" lIns="27432" rIns="27432" tIns="18288" bIns="18288">
            <a:spAutoFit/>
          </a:bodyPr>
          <a:lstStyle/>
          <a:p>
            <a:pPr algn="l">
              <a:spcAft>
                <a:spcPts val="500"/>
              </a:spcAft>
              <a:defRPr sz="3100" b="1">
                <a:solidFill>
                  <a:srgbClr val="008D91"/>
                </a:solidFill>
                <a:latin typeface="Arial"/>
              </a:defRPr>
            </a:pPr>
            <a:r>
              <a:t>01</a:t>
            </a:r>
          </a:p>
        </p:txBody>
      </p:sp>
      <p:sp>
        <p:nvSpPr>
          <p:cNvPr id="9" name="TextBox 8"/>
          <p:cNvSpPr txBox="1"/>
          <p:nvPr/>
        </p:nvSpPr>
        <p:spPr>
          <a:xfrm>
            <a:off x="1737360" y="1920240"/>
            <a:ext cx="9509760" cy="731520"/>
          </a:xfrm>
          <a:prstGeom prst="rect">
            <a:avLst/>
          </a:prstGeom>
          <a:noFill/>
        </p:spPr>
        <p:txBody>
          <a:bodyPr wrap="square" lIns="27432" rIns="27432" tIns="18288" bIns="18288">
            <a:spAutoFit/>
          </a:bodyPr>
          <a:lstStyle/>
          <a:p>
            <a:pPr algn="l">
              <a:spcAft>
                <a:spcPts val="500"/>
              </a:spcAft>
              <a:defRPr sz="2600" b="0">
                <a:solidFill>
                  <a:srgbClr val="183247"/>
                </a:solidFill>
                <a:latin typeface="Arial"/>
              </a:defRPr>
            </a:pPr>
            <a:r>
              <a:t>Convert a variable resource with controlled equipment.</a:t>
            </a:r>
          </a:p>
        </p:txBody>
      </p:sp>
      <p:sp>
        <p:nvSpPr>
          <p:cNvPr id="10" name="TextBox 9"/>
          <p:cNvSpPr txBox="1"/>
          <p:nvPr/>
        </p:nvSpPr>
        <p:spPr>
          <a:xfrm>
            <a:off x="685800" y="2834640"/>
            <a:ext cx="822960" cy="640080"/>
          </a:xfrm>
          <a:prstGeom prst="rect">
            <a:avLst/>
          </a:prstGeom>
          <a:noFill/>
        </p:spPr>
        <p:txBody>
          <a:bodyPr wrap="square" lIns="27432" rIns="27432" tIns="18288" bIns="18288">
            <a:spAutoFit/>
          </a:bodyPr>
          <a:lstStyle/>
          <a:p>
            <a:pPr algn="l">
              <a:spcAft>
                <a:spcPts val="500"/>
              </a:spcAft>
              <a:defRPr sz="3100" b="1">
                <a:solidFill>
                  <a:srgbClr val="008D91"/>
                </a:solidFill>
                <a:latin typeface="Arial"/>
              </a:defRPr>
            </a:pPr>
            <a:r>
              <a:t>02</a:t>
            </a:r>
          </a:p>
        </p:txBody>
      </p:sp>
      <p:sp>
        <p:nvSpPr>
          <p:cNvPr id="11" name="TextBox 10"/>
          <p:cNvSpPr txBox="1"/>
          <p:nvPr/>
        </p:nvSpPr>
        <p:spPr>
          <a:xfrm>
            <a:off x="1737360" y="2926080"/>
            <a:ext cx="9509760" cy="731520"/>
          </a:xfrm>
          <a:prstGeom prst="rect">
            <a:avLst/>
          </a:prstGeom>
          <a:noFill/>
        </p:spPr>
        <p:txBody>
          <a:bodyPr wrap="square" lIns="27432" rIns="27432" tIns="18288" bIns="18288">
            <a:spAutoFit/>
          </a:bodyPr>
          <a:lstStyle/>
          <a:p>
            <a:pPr algn="l">
              <a:spcAft>
                <a:spcPts val="500"/>
              </a:spcAft>
              <a:defRPr sz="2600" b="0">
                <a:solidFill>
                  <a:srgbClr val="183247"/>
                </a:solidFill>
                <a:latin typeface="Arial"/>
              </a:defRPr>
            </a:pPr>
            <a:r>
              <a:t>Separate efficiency from energy over time.</a:t>
            </a:r>
          </a:p>
        </p:txBody>
      </p:sp>
      <p:sp>
        <p:nvSpPr>
          <p:cNvPr id="12" name="TextBox 11"/>
          <p:cNvSpPr txBox="1"/>
          <p:nvPr/>
        </p:nvSpPr>
        <p:spPr>
          <a:xfrm>
            <a:off x="685800" y="3840480"/>
            <a:ext cx="822960" cy="640080"/>
          </a:xfrm>
          <a:prstGeom prst="rect">
            <a:avLst/>
          </a:prstGeom>
          <a:noFill/>
        </p:spPr>
        <p:txBody>
          <a:bodyPr wrap="square" lIns="27432" rIns="27432" tIns="18288" bIns="18288">
            <a:spAutoFit/>
          </a:bodyPr>
          <a:lstStyle/>
          <a:p>
            <a:pPr algn="l">
              <a:spcAft>
                <a:spcPts val="500"/>
              </a:spcAft>
              <a:defRPr sz="3100" b="1">
                <a:solidFill>
                  <a:srgbClr val="008D91"/>
                </a:solidFill>
                <a:latin typeface="Arial"/>
              </a:defRPr>
            </a:pPr>
            <a:r>
              <a:t>03</a:t>
            </a:r>
          </a:p>
        </p:txBody>
      </p:sp>
      <p:sp>
        <p:nvSpPr>
          <p:cNvPr id="13" name="TextBox 12"/>
          <p:cNvSpPr txBox="1"/>
          <p:nvPr/>
        </p:nvSpPr>
        <p:spPr>
          <a:xfrm>
            <a:off x="1737360" y="3931920"/>
            <a:ext cx="9509760" cy="731520"/>
          </a:xfrm>
          <a:prstGeom prst="rect">
            <a:avLst/>
          </a:prstGeom>
          <a:noFill/>
        </p:spPr>
        <p:txBody>
          <a:bodyPr wrap="square" lIns="27432" rIns="27432" tIns="18288" bIns="18288">
            <a:spAutoFit/>
          </a:bodyPr>
          <a:lstStyle/>
          <a:p>
            <a:pPr algn="l">
              <a:spcAft>
                <a:spcPts val="500"/>
              </a:spcAft>
              <a:defRPr sz="2600" b="0">
                <a:solidFill>
                  <a:srgbClr val="183247"/>
                </a:solidFill>
                <a:latin typeface="Arial"/>
              </a:defRPr>
            </a:pPr>
            <a:r>
              <a:t>Deliver value through siting and grid integration.</a:t>
            </a:r>
          </a:p>
        </p:txBody>
      </p:sp>
      <p:sp>
        <p:nvSpPr>
          <p:cNvPr id="14" name="TextBox 13"/>
          <p:cNvSpPr txBox="1"/>
          <p:nvPr/>
        </p:nvSpPr>
        <p:spPr>
          <a:xfrm>
            <a:off x="777240" y="5385816"/>
            <a:ext cx="10515600" cy="658368"/>
          </a:xfrm>
          <a:prstGeom prst="rect">
            <a:avLst/>
          </a:prstGeom>
          <a:noFill/>
        </p:spPr>
        <p:txBody>
          <a:bodyPr wrap="square" lIns="27432" rIns="27432" tIns="18288" bIns="18288">
            <a:spAutoFit/>
          </a:bodyPr>
          <a:lstStyle/>
          <a:p>
            <a:pPr algn="l">
              <a:spcAft>
                <a:spcPts val="500"/>
              </a:spcAft>
              <a:defRPr sz="3100" b="1">
                <a:solidFill>
                  <a:srgbClr val="008D91"/>
                </a:solidFill>
                <a:latin typeface="Arial"/>
              </a:defRPr>
            </a:pPr>
            <a:r>
              <a:t>Thank you —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References — technology &amp; deployment</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Source IDs on each slide connect to these references. Not part of the timed talk.</a:t>
            </a:r>
          </a:p>
        </p:txBody>
      </p:sp>
      <p:sp>
        <p:nvSpPr>
          <p:cNvPr id="5" name="TextBox 4"/>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R1, R2, R3, R4</a:t>
            </a:r>
          </a:p>
        </p:txBody>
      </p:sp>
      <p:sp>
        <p:nvSpPr>
          <p:cNvPr id="6" name="TextBox 5"/>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15</a:t>
            </a:r>
          </a:p>
        </p:txBody>
      </p:sp>
      <p:sp>
        <p:nvSpPr>
          <p:cNvPr id="7" name="TextBox 6"/>
          <p:cNvSpPr txBox="1"/>
          <p:nvPr/>
        </p:nvSpPr>
        <p:spPr>
          <a:xfrm>
            <a:off x="640080" y="1709928"/>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R1</a:t>
            </a:r>
          </a:p>
        </p:txBody>
      </p:sp>
      <p:sp>
        <p:nvSpPr>
          <p:cNvPr id="8" name="TextBox 7"/>
          <p:cNvSpPr txBox="1"/>
          <p:nvPr/>
        </p:nvSpPr>
        <p:spPr>
          <a:xfrm>
            <a:off x="1298448" y="1709928"/>
            <a:ext cx="10149840" cy="822960"/>
          </a:xfrm>
          <a:prstGeom prst="rect">
            <a:avLst/>
          </a:prstGeom>
          <a:noFill/>
        </p:spPr>
        <p:txBody>
          <a:bodyPr wrap="square" lIns="27432" rIns="27432" tIns="18288" bIns="18288">
            <a:spAutoFit/>
          </a:bodyPr>
          <a:lstStyle/>
          <a:p>
            <a:pPr algn="l">
              <a:spcAft>
                <a:spcPts val="500"/>
              </a:spcAft>
              <a:defRPr sz="1500" b="0">
                <a:solidFill>
                  <a:srgbClr val="183247"/>
                </a:solidFill>
                <a:latin typeface="Arial"/>
              </a:defRPr>
            </a:pPr>
            <a:r>
              <a:rPr>
                <a:hlinkClick r:id="rId2"/>
              </a:rPr>
              <a:t>U.S. Department of Energy. How Do Wind Turbines Work?</a:t>
            </a:r>
          </a:p>
          <a:p>
            <a:pPr algn="l">
              <a:spcAft>
                <a:spcPts val="500"/>
              </a:spcAft>
              <a:defRPr sz="1500" b="0">
                <a:solidFill>
                  <a:srgbClr val="183247"/>
                </a:solidFill>
                <a:latin typeface="Arial"/>
              </a:defRPr>
            </a:pPr>
            <a:r>
              <a:rPr>
                <a:hlinkClick r:id="rId2"/>
              </a:rPr>
              <a:t>https://www.energy.gov/eere/wind/how-do-wind-turbines-work</a:t>
            </a:r>
          </a:p>
        </p:txBody>
      </p:sp>
      <p:sp>
        <p:nvSpPr>
          <p:cNvPr id="9" name="TextBox 8"/>
          <p:cNvSpPr txBox="1"/>
          <p:nvPr/>
        </p:nvSpPr>
        <p:spPr>
          <a:xfrm>
            <a:off x="640080" y="2734056"/>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R2</a:t>
            </a:r>
          </a:p>
        </p:txBody>
      </p:sp>
      <p:sp>
        <p:nvSpPr>
          <p:cNvPr id="10" name="TextBox 9"/>
          <p:cNvSpPr txBox="1"/>
          <p:nvPr/>
        </p:nvSpPr>
        <p:spPr>
          <a:xfrm>
            <a:off x="1298448" y="2734056"/>
            <a:ext cx="10149840" cy="822960"/>
          </a:xfrm>
          <a:prstGeom prst="rect">
            <a:avLst/>
          </a:prstGeom>
          <a:noFill/>
        </p:spPr>
        <p:txBody>
          <a:bodyPr wrap="square" lIns="27432" rIns="27432" tIns="18288" bIns="18288">
            <a:spAutoFit/>
          </a:bodyPr>
          <a:lstStyle/>
          <a:p>
            <a:pPr algn="l">
              <a:spcAft>
                <a:spcPts val="500"/>
              </a:spcAft>
              <a:defRPr sz="1500" b="0">
                <a:solidFill>
                  <a:srgbClr val="183247"/>
                </a:solidFill>
                <a:latin typeface="Arial"/>
              </a:defRPr>
            </a:pPr>
            <a:r>
              <a:rPr>
                <a:hlinkClick r:id="rId3"/>
              </a:rPr>
              <a:t>U.S. Department of Energy. Inside a Wind Turbine.</a:t>
            </a:r>
          </a:p>
          <a:p>
            <a:pPr algn="l">
              <a:spcAft>
                <a:spcPts val="500"/>
              </a:spcAft>
              <a:defRPr sz="1500" b="0">
                <a:solidFill>
                  <a:srgbClr val="183247"/>
                </a:solidFill>
                <a:latin typeface="Arial"/>
              </a:defRPr>
            </a:pPr>
            <a:r>
              <a:rPr>
                <a:hlinkClick r:id="rId3"/>
              </a:rPr>
              <a:t>https://www.energy.gov/eere/wind/inside-wind-turbine</a:t>
            </a:r>
          </a:p>
        </p:txBody>
      </p:sp>
      <p:sp>
        <p:nvSpPr>
          <p:cNvPr id="11" name="TextBox 10"/>
          <p:cNvSpPr txBox="1"/>
          <p:nvPr/>
        </p:nvSpPr>
        <p:spPr>
          <a:xfrm>
            <a:off x="640080" y="3758184"/>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R3</a:t>
            </a:r>
          </a:p>
        </p:txBody>
      </p:sp>
      <p:sp>
        <p:nvSpPr>
          <p:cNvPr id="12" name="TextBox 11"/>
          <p:cNvSpPr txBox="1"/>
          <p:nvPr/>
        </p:nvSpPr>
        <p:spPr>
          <a:xfrm>
            <a:off x="1298448" y="3758184"/>
            <a:ext cx="10149840" cy="822960"/>
          </a:xfrm>
          <a:prstGeom prst="rect">
            <a:avLst/>
          </a:prstGeom>
          <a:noFill/>
        </p:spPr>
        <p:txBody>
          <a:bodyPr wrap="square" lIns="27432" rIns="27432" tIns="18288" bIns="18288">
            <a:spAutoFit/>
          </a:bodyPr>
          <a:lstStyle/>
          <a:p>
            <a:pPr algn="l">
              <a:spcAft>
                <a:spcPts val="500"/>
              </a:spcAft>
              <a:defRPr sz="1500" b="0">
                <a:solidFill>
                  <a:srgbClr val="183247"/>
                </a:solidFill>
                <a:latin typeface="Arial"/>
              </a:defRPr>
            </a:pPr>
            <a:r>
              <a:rPr>
                <a:hlinkClick r:id="rId4"/>
              </a:rPr>
              <a:t>Burton, T., Jenkins, N., Sharpe, D., &amp; Bossanyi, E. (2011). Wind Energy Handbook (2nd ed.). Wiley.</a:t>
            </a:r>
          </a:p>
          <a:p>
            <a:pPr algn="l">
              <a:spcAft>
                <a:spcPts val="500"/>
              </a:spcAft>
              <a:defRPr sz="1500" b="0">
                <a:solidFill>
                  <a:srgbClr val="183247"/>
                </a:solidFill>
                <a:latin typeface="Arial"/>
              </a:defRPr>
            </a:pPr>
            <a:r>
              <a:rPr>
                <a:hlinkClick r:id="rId4"/>
              </a:rPr>
              <a:t>https://doi.org/10.1002/9781119992714</a:t>
            </a:r>
          </a:p>
        </p:txBody>
      </p:sp>
      <p:sp>
        <p:nvSpPr>
          <p:cNvPr id="13" name="TextBox 12"/>
          <p:cNvSpPr txBox="1"/>
          <p:nvPr/>
        </p:nvSpPr>
        <p:spPr>
          <a:xfrm>
            <a:off x="640080" y="4782312"/>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R4</a:t>
            </a:r>
          </a:p>
        </p:txBody>
      </p:sp>
      <p:sp>
        <p:nvSpPr>
          <p:cNvPr id="14" name="TextBox 13"/>
          <p:cNvSpPr txBox="1"/>
          <p:nvPr/>
        </p:nvSpPr>
        <p:spPr>
          <a:xfrm>
            <a:off x="1298448" y="4782312"/>
            <a:ext cx="10149840" cy="822960"/>
          </a:xfrm>
          <a:prstGeom prst="rect">
            <a:avLst/>
          </a:prstGeom>
          <a:noFill/>
        </p:spPr>
        <p:txBody>
          <a:bodyPr wrap="square" lIns="27432" rIns="27432" tIns="18288" bIns="18288">
            <a:spAutoFit/>
          </a:bodyPr>
          <a:lstStyle/>
          <a:p>
            <a:pPr algn="l">
              <a:spcAft>
                <a:spcPts val="500"/>
              </a:spcAft>
              <a:defRPr sz="1500" b="0">
                <a:solidFill>
                  <a:srgbClr val="183247"/>
                </a:solidFill>
                <a:latin typeface="Arial"/>
              </a:defRPr>
            </a:pPr>
            <a:r>
              <a:rPr>
                <a:hlinkClick r:id="rId5"/>
              </a:rPr>
              <a:t>IRENA. (2025). Renewable Capacity Statistics 2025.</a:t>
            </a:r>
          </a:p>
          <a:p>
            <a:pPr algn="l">
              <a:spcAft>
                <a:spcPts val="500"/>
              </a:spcAft>
              <a:defRPr sz="1500" b="0">
                <a:solidFill>
                  <a:srgbClr val="183247"/>
                </a:solidFill>
                <a:latin typeface="Arial"/>
              </a:defRPr>
            </a:pPr>
            <a:r>
              <a:rPr>
                <a:hlinkClick r:id="rId5"/>
              </a:rPr>
              <a:t>https://www.irena.org/Publications/2025/Mar/Renewable-capacity-statistics-2025</a:t>
            </a:r>
          </a:p>
        </p:txBody>
      </p:sp>
      <p:sp>
        <p:nvSpPr>
          <p:cNvPr id="15" name="TextBox 14"/>
          <p:cNvSpPr txBox="1"/>
          <p:nvPr/>
        </p:nvSpPr>
        <p:spPr>
          <a:xfrm>
            <a:off x="685800" y="5897880"/>
            <a:ext cx="10789920" cy="329184"/>
          </a:xfrm>
          <a:prstGeom prst="rect">
            <a:avLst/>
          </a:prstGeom>
          <a:noFill/>
        </p:spPr>
        <p:txBody>
          <a:bodyPr wrap="square" lIns="27432" rIns="27432" tIns="18288" bIns="18288">
            <a:spAutoFit/>
          </a:bodyPr>
          <a:lstStyle/>
          <a:p>
            <a:pPr algn="l">
              <a:spcAft>
                <a:spcPts val="500"/>
              </a:spcAft>
              <a:defRPr sz="1100" b="0">
                <a:solidFill>
                  <a:srgbClr val="5C6F7E"/>
                </a:solidFill>
                <a:latin typeface="Arial"/>
              </a:defRPr>
            </a:pPr>
            <a:r>
              <a:t>External URLs could not be opened in this environment; verify links before submission. Figures retain their publication years.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References — impacts, case &amp; course</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Source IDs on each slide connect to these references. Not part of the timed talk.</a:t>
            </a:r>
          </a:p>
        </p:txBody>
      </p:sp>
      <p:sp>
        <p:nvSpPr>
          <p:cNvPr id="5" name="TextBox 4"/>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R5, R6, R7, C1, C2, C3</a:t>
            </a:r>
          </a:p>
        </p:txBody>
      </p:sp>
      <p:sp>
        <p:nvSpPr>
          <p:cNvPr id="6" name="TextBox 5"/>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16</a:t>
            </a:r>
          </a:p>
        </p:txBody>
      </p:sp>
      <p:sp>
        <p:nvSpPr>
          <p:cNvPr id="7" name="TextBox 6"/>
          <p:cNvSpPr txBox="1"/>
          <p:nvPr/>
        </p:nvSpPr>
        <p:spPr>
          <a:xfrm>
            <a:off x="640080" y="1709928"/>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R5</a:t>
            </a:r>
          </a:p>
        </p:txBody>
      </p:sp>
      <p:sp>
        <p:nvSpPr>
          <p:cNvPr id="8" name="TextBox 7"/>
          <p:cNvSpPr txBox="1"/>
          <p:nvPr/>
        </p:nvSpPr>
        <p:spPr>
          <a:xfrm>
            <a:off x="1298448" y="1709928"/>
            <a:ext cx="10149840" cy="612648"/>
          </a:xfrm>
          <a:prstGeom prst="rect">
            <a:avLst/>
          </a:prstGeom>
          <a:noFill/>
        </p:spPr>
        <p:txBody>
          <a:bodyPr wrap="square" lIns="27432" rIns="27432" tIns="18288" bIns="18288">
            <a:spAutoFit/>
          </a:bodyPr>
          <a:lstStyle/>
          <a:p>
            <a:pPr algn="l">
              <a:spcAft>
                <a:spcPts val="500"/>
              </a:spcAft>
              <a:defRPr sz="1200" b="0">
                <a:solidFill>
                  <a:srgbClr val="183247"/>
                </a:solidFill>
                <a:latin typeface="Arial"/>
              </a:defRPr>
            </a:pPr>
            <a:r>
              <a:rPr>
                <a:hlinkClick r:id="rId2"/>
              </a:rPr>
              <a:t>IPCC. (2014). Climate Change 2014: Mitigation of Climate Change. Annex III, Table A.III.2.</a:t>
            </a:r>
          </a:p>
          <a:p>
            <a:pPr algn="l">
              <a:spcAft>
                <a:spcPts val="500"/>
              </a:spcAft>
              <a:defRPr sz="1200" b="0">
                <a:solidFill>
                  <a:srgbClr val="183247"/>
                </a:solidFill>
                <a:latin typeface="Arial"/>
              </a:defRPr>
            </a:pPr>
            <a:r>
              <a:rPr>
                <a:hlinkClick r:id="rId2"/>
              </a:rPr>
              <a:t>https://www.ipcc.ch/site/assets/uploads/2018/02/ipcc_wg3_ar5_annex-iii.pdf</a:t>
            </a:r>
          </a:p>
        </p:txBody>
      </p:sp>
      <p:sp>
        <p:nvSpPr>
          <p:cNvPr id="9" name="TextBox 8"/>
          <p:cNvSpPr txBox="1"/>
          <p:nvPr/>
        </p:nvSpPr>
        <p:spPr>
          <a:xfrm>
            <a:off x="640080" y="2386584"/>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R6</a:t>
            </a:r>
          </a:p>
        </p:txBody>
      </p:sp>
      <p:sp>
        <p:nvSpPr>
          <p:cNvPr id="10" name="TextBox 9"/>
          <p:cNvSpPr txBox="1"/>
          <p:nvPr/>
        </p:nvSpPr>
        <p:spPr>
          <a:xfrm>
            <a:off x="1298448" y="2386584"/>
            <a:ext cx="10149840" cy="612648"/>
          </a:xfrm>
          <a:prstGeom prst="rect">
            <a:avLst/>
          </a:prstGeom>
          <a:noFill/>
        </p:spPr>
        <p:txBody>
          <a:bodyPr wrap="square" lIns="27432" rIns="27432" tIns="18288" bIns="18288">
            <a:spAutoFit/>
          </a:bodyPr>
          <a:lstStyle/>
          <a:p>
            <a:pPr algn="l">
              <a:spcAft>
                <a:spcPts val="500"/>
              </a:spcAft>
              <a:defRPr sz="1200" b="0">
                <a:solidFill>
                  <a:srgbClr val="183247"/>
                </a:solidFill>
                <a:latin typeface="Arial"/>
              </a:defRPr>
            </a:pPr>
            <a:r>
              <a:rPr>
                <a:hlinkClick r:id="rId3"/>
              </a:rPr>
              <a:t>Ørsted. Hornsea 2: project information.</a:t>
            </a:r>
          </a:p>
          <a:p>
            <a:pPr algn="l">
              <a:spcAft>
                <a:spcPts val="500"/>
              </a:spcAft>
              <a:defRPr sz="1200" b="0">
                <a:solidFill>
                  <a:srgbClr val="183247"/>
                </a:solidFill>
                <a:latin typeface="Arial"/>
              </a:defRPr>
            </a:pPr>
            <a:r>
              <a:rPr>
                <a:hlinkClick r:id="rId3"/>
              </a:rPr>
              <a:t>https://hornseaproject2.co.uk/</a:t>
            </a:r>
          </a:p>
        </p:txBody>
      </p:sp>
      <p:sp>
        <p:nvSpPr>
          <p:cNvPr id="11" name="TextBox 10"/>
          <p:cNvSpPr txBox="1"/>
          <p:nvPr/>
        </p:nvSpPr>
        <p:spPr>
          <a:xfrm>
            <a:off x="640080" y="3063240"/>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R7</a:t>
            </a:r>
          </a:p>
        </p:txBody>
      </p:sp>
      <p:sp>
        <p:nvSpPr>
          <p:cNvPr id="12" name="TextBox 11"/>
          <p:cNvSpPr txBox="1"/>
          <p:nvPr/>
        </p:nvSpPr>
        <p:spPr>
          <a:xfrm>
            <a:off x="1298448" y="3063240"/>
            <a:ext cx="10149840" cy="612648"/>
          </a:xfrm>
          <a:prstGeom prst="rect">
            <a:avLst/>
          </a:prstGeom>
          <a:noFill/>
        </p:spPr>
        <p:txBody>
          <a:bodyPr wrap="square" lIns="27432" rIns="27432" tIns="18288" bIns="18288">
            <a:spAutoFit/>
          </a:bodyPr>
          <a:lstStyle/>
          <a:p>
            <a:pPr algn="l">
              <a:spcAft>
                <a:spcPts val="500"/>
              </a:spcAft>
              <a:defRPr sz="1200" b="0">
                <a:solidFill>
                  <a:srgbClr val="183247"/>
                </a:solidFill>
                <a:latin typeface="Arial"/>
              </a:defRPr>
            </a:pPr>
            <a:r>
              <a:rPr>
                <a:hlinkClick r:id="rId4"/>
              </a:rPr>
              <a:t>Denholm, P., Hand, M., Jackson, M., &amp; Ong, S. (2009). Land-Use Requirements of Modern Wind Power Plants in the United States. NREL/TP-6A2-45834.</a:t>
            </a:r>
          </a:p>
          <a:p>
            <a:pPr algn="l">
              <a:spcAft>
                <a:spcPts val="500"/>
              </a:spcAft>
              <a:defRPr sz="1200" b="0">
                <a:solidFill>
                  <a:srgbClr val="183247"/>
                </a:solidFill>
                <a:latin typeface="Arial"/>
              </a:defRPr>
            </a:pPr>
            <a:r>
              <a:rPr>
                <a:hlinkClick r:id="rId4"/>
              </a:rPr>
              <a:t>https://www.nrel.gov/docs/fy09osti/45834.pdf</a:t>
            </a:r>
          </a:p>
        </p:txBody>
      </p:sp>
      <p:sp>
        <p:nvSpPr>
          <p:cNvPr id="13" name="TextBox 12"/>
          <p:cNvSpPr txBox="1"/>
          <p:nvPr/>
        </p:nvSpPr>
        <p:spPr>
          <a:xfrm>
            <a:off x="640080" y="3739896"/>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C1</a:t>
            </a:r>
          </a:p>
        </p:txBody>
      </p:sp>
      <p:sp>
        <p:nvSpPr>
          <p:cNvPr id="14" name="TextBox 13"/>
          <p:cNvSpPr txBox="1"/>
          <p:nvPr/>
        </p:nvSpPr>
        <p:spPr>
          <a:xfrm>
            <a:off x="1298448" y="3739896"/>
            <a:ext cx="10149840" cy="612648"/>
          </a:xfrm>
          <a:prstGeom prst="rect">
            <a:avLst/>
          </a:prstGeom>
          <a:noFill/>
        </p:spPr>
        <p:txBody>
          <a:bodyPr wrap="square" lIns="27432" rIns="27432" tIns="18288" bIns="18288">
            <a:spAutoFit/>
          </a:bodyPr>
          <a:lstStyle/>
          <a:p>
            <a:pPr algn="l">
              <a:spcAft>
                <a:spcPts val="500"/>
              </a:spcAft>
              <a:defRPr sz="1200" b="0">
                <a:solidFill>
                  <a:srgbClr val="183247"/>
                </a:solidFill>
                <a:latin typeface="Arial"/>
              </a:defRPr>
            </a:pPr>
            <a:r>
              <a:t>Mehrjerdi, H. Course slides: 1–Introduction.pdf, PDF pp. 17–19 and 27.</a:t>
            </a:r>
          </a:p>
        </p:txBody>
      </p:sp>
      <p:sp>
        <p:nvSpPr>
          <p:cNvPr id="15" name="TextBox 14"/>
          <p:cNvSpPr txBox="1"/>
          <p:nvPr/>
        </p:nvSpPr>
        <p:spPr>
          <a:xfrm>
            <a:off x="640080" y="4416552"/>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C2</a:t>
            </a:r>
          </a:p>
        </p:txBody>
      </p:sp>
      <p:sp>
        <p:nvSpPr>
          <p:cNvPr id="16" name="TextBox 15"/>
          <p:cNvSpPr txBox="1"/>
          <p:nvPr/>
        </p:nvSpPr>
        <p:spPr>
          <a:xfrm>
            <a:off x="1298448" y="4416552"/>
            <a:ext cx="10149840" cy="612648"/>
          </a:xfrm>
          <a:prstGeom prst="rect">
            <a:avLst/>
          </a:prstGeom>
          <a:noFill/>
        </p:spPr>
        <p:txBody>
          <a:bodyPr wrap="square" lIns="27432" rIns="27432" tIns="18288" bIns="18288">
            <a:spAutoFit/>
          </a:bodyPr>
          <a:lstStyle/>
          <a:p>
            <a:pPr algn="l">
              <a:spcAft>
                <a:spcPts val="500"/>
              </a:spcAft>
              <a:defRPr sz="1200" b="0">
                <a:solidFill>
                  <a:srgbClr val="183247"/>
                </a:solidFill>
                <a:latin typeface="Arial"/>
              </a:defRPr>
            </a:pPr>
            <a:r>
              <a:t>Mehrjerdi, H. Course slides: 2–Voltage Control.pdf, PDF pp. 17–21 and 33.</a:t>
            </a:r>
          </a:p>
        </p:txBody>
      </p:sp>
      <p:sp>
        <p:nvSpPr>
          <p:cNvPr id="17" name="TextBox 16"/>
          <p:cNvSpPr txBox="1"/>
          <p:nvPr/>
        </p:nvSpPr>
        <p:spPr>
          <a:xfrm>
            <a:off x="640080" y="5093208"/>
            <a:ext cx="548640" cy="411480"/>
          </a:xfrm>
          <a:prstGeom prst="rect">
            <a:avLst/>
          </a:prstGeom>
          <a:noFill/>
        </p:spPr>
        <p:txBody>
          <a:bodyPr wrap="square" lIns="27432" rIns="27432" tIns="18288" bIns="18288">
            <a:spAutoFit/>
          </a:bodyPr>
          <a:lstStyle/>
          <a:p>
            <a:pPr algn="l">
              <a:spcAft>
                <a:spcPts val="500"/>
              </a:spcAft>
              <a:defRPr sz="1600" b="1">
                <a:solidFill>
                  <a:srgbClr val="008D91"/>
                </a:solidFill>
                <a:latin typeface="Arial"/>
              </a:defRPr>
            </a:pPr>
            <a:r>
              <a:t>C3</a:t>
            </a:r>
          </a:p>
        </p:txBody>
      </p:sp>
      <p:sp>
        <p:nvSpPr>
          <p:cNvPr id="18" name="TextBox 17"/>
          <p:cNvSpPr txBox="1"/>
          <p:nvPr/>
        </p:nvSpPr>
        <p:spPr>
          <a:xfrm>
            <a:off x="1298448" y="5093208"/>
            <a:ext cx="10149840" cy="612648"/>
          </a:xfrm>
          <a:prstGeom prst="rect">
            <a:avLst/>
          </a:prstGeom>
          <a:noFill/>
        </p:spPr>
        <p:txBody>
          <a:bodyPr wrap="square" lIns="27432" rIns="27432" tIns="18288" bIns="18288">
            <a:spAutoFit/>
          </a:bodyPr>
          <a:lstStyle/>
          <a:p>
            <a:pPr algn="l">
              <a:spcAft>
                <a:spcPts val="500"/>
              </a:spcAft>
              <a:defRPr sz="1200" b="0">
                <a:solidFill>
                  <a:srgbClr val="183247"/>
                </a:solidFill>
                <a:latin typeface="Arial"/>
              </a:defRPr>
            </a:pPr>
            <a:r>
              <a:t>Mehrjerdi, H. Course slides: 3–Frequency Control.pdf, PDF pp. 12–13 and 24–29.</a:t>
            </a:r>
          </a:p>
        </p:txBody>
      </p:sp>
      <p:sp>
        <p:nvSpPr>
          <p:cNvPr id="19" name="TextBox 18"/>
          <p:cNvSpPr txBox="1"/>
          <p:nvPr/>
        </p:nvSpPr>
        <p:spPr>
          <a:xfrm>
            <a:off x="685800" y="5897880"/>
            <a:ext cx="10789920" cy="329184"/>
          </a:xfrm>
          <a:prstGeom prst="rect">
            <a:avLst/>
          </a:prstGeom>
          <a:noFill/>
        </p:spPr>
        <p:txBody>
          <a:bodyPr wrap="square" lIns="27432" rIns="27432" tIns="18288" bIns="18288">
            <a:spAutoFit/>
          </a:bodyPr>
          <a:lstStyle/>
          <a:p>
            <a:pPr algn="l">
              <a:spcAft>
                <a:spcPts val="500"/>
              </a:spcAft>
              <a:defRPr sz="1100" b="0">
                <a:solidFill>
                  <a:srgbClr val="5C6F7E"/>
                </a:solidFill>
                <a:latin typeface="Arial"/>
              </a:defRPr>
            </a:pPr>
            <a:r>
              <a:t>External URLs could not be opened in this environment; verify links before submission. Figures retain their publication years.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Backup — conversion and annual energy</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Use only during the separate 10-minute question period.</a:t>
            </a:r>
          </a:p>
        </p:txBody>
      </p:sp>
      <p:sp>
        <p:nvSpPr>
          <p:cNvPr id="5" name="TextBox 4"/>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R3</a:t>
            </a:r>
          </a:p>
        </p:txBody>
      </p:sp>
      <p:sp>
        <p:nvSpPr>
          <p:cNvPr id="6" name="TextBox 5"/>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17</a:t>
            </a:r>
          </a:p>
        </p:txBody>
      </p:sp>
      <p:sp>
        <p:nvSpPr>
          <p:cNvPr id="7" name="TextBox 6"/>
          <p:cNvSpPr txBox="1"/>
          <p:nvPr/>
        </p:nvSpPr>
        <p:spPr>
          <a:xfrm>
            <a:off x="685800" y="178308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Wind power</a:t>
            </a:r>
          </a:p>
        </p:txBody>
      </p:sp>
      <p:sp>
        <p:nvSpPr>
          <p:cNvPr id="8" name="TextBox 7"/>
          <p:cNvSpPr txBox="1"/>
          <p:nvPr/>
        </p:nvSpPr>
        <p:spPr>
          <a:xfrm>
            <a:off x="3291840" y="178308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½ × 1.225 × π × 60² × 8³ ≈ 3.55 MW</a:t>
            </a:r>
          </a:p>
        </p:txBody>
      </p:sp>
      <p:sp>
        <p:nvSpPr>
          <p:cNvPr id="9" name="TextBox 8"/>
          <p:cNvSpPr txBox="1"/>
          <p:nvPr/>
        </p:nvSpPr>
        <p:spPr>
          <a:xfrm>
            <a:off x="685800" y="274320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Electrical output</a:t>
            </a:r>
          </a:p>
        </p:txBody>
      </p:sp>
      <p:sp>
        <p:nvSpPr>
          <p:cNvPr id="10" name="TextBox 9"/>
          <p:cNvSpPr txBox="1"/>
          <p:nvPr/>
        </p:nvSpPr>
        <p:spPr>
          <a:xfrm>
            <a:off x="3291840" y="274320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3.55 × 0.45 × 0.94 ≈ 1.50 MW</a:t>
            </a:r>
          </a:p>
        </p:txBody>
      </p:sp>
      <p:sp>
        <p:nvSpPr>
          <p:cNvPr id="11" name="TextBox 10"/>
          <p:cNvSpPr txBox="1"/>
          <p:nvPr/>
        </p:nvSpPr>
        <p:spPr>
          <a:xfrm>
            <a:off x="685800" y="370332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Annual energy</a:t>
            </a:r>
          </a:p>
        </p:txBody>
      </p:sp>
      <p:sp>
        <p:nvSpPr>
          <p:cNvPr id="12" name="TextBox 11"/>
          <p:cNvSpPr txBox="1"/>
          <p:nvPr/>
        </p:nvSpPr>
        <p:spPr>
          <a:xfrm>
            <a:off x="3291840" y="370332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3 MW × 8,760 h × 0.35 ≈ 9,198 MWh</a:t>
            </a:r>
          </a:p>
        </p:txBody>
      </p:sp>
      <p:sp>
        <p:nvSpPr>
          <p:cNvPr id="13" name="TextBox 12"/>
          <p:cNvSpPr txBox="1"/>
          <p:nvPr/>
        </p:nvSpPr>
        <p:spPr>
          <a:xfrm>
            <a:off x="685800" y="466344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Interpretation</a:t>
            </a:r>
          </a:p>
        </p:txBody>
      </p:sp>
      <p:sp>
        <p:nvSpPr>
          <p:cNvPr id="14" name="TextBox 13"/>
          <p:cNvSpPr txBox="1"/>
          <p:nvPr/>
        </p:nvSpPr>
        <p:spPr>
          <a:xfrm>
            <a:off x="3291840" y="466344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All example inputs are assumptions; no measured turbine curve.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Backup — two grid-support questions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Use only during the separate 10-minute question period.</a:t>
            </a:r>
          </a:p>
        </p:txBody>
      </p:sp>
      <p:sp>
        <p:nvSpPr>
          <p:cNvPr id="5" name="TextBox 4"/>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R3, C2, C3</a:t>
            </a:r>
          </a:p>
        </p:txBody>
      </p:sp>
      <p:sp>
        <p:nvSpPr>
          <p:cNvPr id="6" name="TextBox 5"/>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18</a:t>
            </a:r>
          </a:p>
        </p:txBody>
      </p:sp>
      <p:sp>
        <p:nvSpPr>
          <p:cNvPr id="7" name="TextBox 6"/>
          <p:cNvSpPr txBox="1"/>
          <p:nvPr/>
        </p:nvSpPr>
        <p:spPr>
          <a:xfrm>
            <a:off x="685800" y="178308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Frequency support</a:t>
            </a:r>
          </a:p>
        </p:txBody>
      </p:sp>
      <p:sp>
        <p:nvSpPr>
          <p:cNvPr id="8" name="TextBox 7"/>
          <p:cNvSpPr txBox="1"/>
          <p:nvPr/>
        </p:nvSpPr>
        <p:spPr>
          <a:xfrm>
            <a:off x="3291840" y="178308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Finite rotor-energy release ≠ sustained upward reserve.</a:t>
            </a:r>
          </a:p>
        </p:txBody>
      </p:sp>
      <p:sp>
        <p:nvSpPr>
          <p:cNvPr id="9" name="TextBox 8"/>
          <p:cNvSpPr txBox="1"/>
          <p:nvPr/>
        </p:nvSpPr>
        <p:spPr>
          <a:xfrm>
            <a:off x="685800" y="274320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Headroom</a:t>
            </a:r>
          </a:p>
        </p:txBody>
      </p:sp>
      <p:sp>
        <p:nvSpPr>
          <p:cNvPr id="10" name="TextBox 9"/>
          <p:cNvSpPr txBox="1"/>
          <p:nvPr/>
        </p:nvSpPr>
        <p:spPr>
          <a:xfrm>
            <a:off x="3291840" y="274320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Deloading can leave room to increase output if wind is available.</a:t>
            </a:r>
          </a:p>
        </p:txBody>
      </p:sp>
      <p:sp>
        <p:nvSpPr>
          <p:cNvPr id="11" name="TextBox 10"/>
          <p:cNvSpPr txBox="1"/>
          <p:nvPr/>
        </p:nvSpPr>
        <p:spPr>
          <a:xfrm>
            <a:off x="685800" y="370332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Voltage support</a:t>
            </a:r>
          </a:p>
        </p:txBody>
      </p:sp>
      <p:sp>
        <p:nvSpPr>
          <p:cNvPr id="12" name="TextBox 11"/>
          <p:cNvSpPr txBox="1"/>
          <p:nvPr/>
        </p:nvSpPr>
        <p:spPr>
          <a:xfrm>
            <a:off x="3291840" y="370332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Reactive-power support is bounded by converter capability.</a:t>
            </a:r>
          </a:p>
        </p:txBody>
      </p:sp>
      <p:sp>
        <p:nvSpPr>
          <p:cNvPr id="13" name="TextBox 12"/>
          <p:cNvSpPr txBox="1"/>
          <p:nvPr/>
        </p:nvSpPr>
        <p:spPr>
          <a:xfrm>
            <a:off x="685800" y="466344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Architecture</a:t>
            </a:r>
          </a:p>
        </p:txBody>
      </p:sp>
      <p:sp>
        <p:nvSpPr>
          <p:cNvPr id="14" name="TextBox 13"/>
          <p:cNvSpPr txBox="1"/>
          <p:nvPr/>
        </p:nvSpPr>
        <p:spPr>
          <a:xfrm>
            <a:off x="3291840" y="466344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Excitation-based AVR applies to synchronous machines; designs vary.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0698480" cy="594360"/>
          </a:xfrm>
          <a:prstGeom prst="rect">
            <a:avLst/>
          </a:prstGeom>
          <a:noFill/>
        </p:spPr>
        <p:txBody>
          <a:bodyPr wrap="square" lIns="27432" rIns="27432" tIns="18288" bIns="18288">
            <a:spAutoFit/>
          </a:bodyPr>
          <a:lstStyle/>
          <a:p>
            <a:pPr algn="l">
              <a:spcAft>
                <a:spcPts val="500"/>
              </a:spcAft>
              <a:defRPr sz="3000" b="1">
                <a:solidFill>
                  <a:srgbClr val="183247"/>
                </a:solidFill>
                <a:latin typeface="Arial"/>
              </a:defRPr>
            </a:pPr>
            <a:r>
              <a:t>Backup — common misunderstandings</a:t>
            </a:r>
          </a:p>
        </p:txBody>
      </p:sp>
      <p:sp>
        <p:nvSpPr>
          <p:cNvPr id="4" name="TextBox 3"/>
          <p:cNvSpPr txBox="1"/>
          <p:nvPr/>
        </p:nvSpPr>
        <p:spPr>
          <a:xfrm>
            <a:off x="484632" y="978408"/>
            <a:ext cx="10607040" cy="502920"/>
          </a:xfrm>
          <a:prstGeom prst="rect">
            <a:avLst/>
          </a:prstGeom>
          <a:noFill/>
        </p:spPr>
        <p:txBody>
          <a:bodyPr wrap="square" lIns="27432" rIns="27432" tIns="18288" bIns="18288">
            <a:spAutoFit/>
          </a:bodyPr>
          <a:lstStyle/>
          <a:p>
            <a:pPr algn="l">
              <a:spcAft>
                <a:spcPts val="500"/>
              </a:spcAft>
              <a:defRPr sz="1600" b="0">
                <a:solidFill>
                  <a:srgbClr val="5C6F7E"/>
                </a:solidFill>
                <a:latin typeface="Arial"/>
              </a:defRPr>
            </a:pPr>
            <a:r>
              <a:t>Use only during the separate 10-minute question period.</a:t>
            </a:r>
          </a:p>
        </p:txBody>
      </p:sp>
      <p:sp>
        <p:nvSpPr>
          <p:cNvPr id="5" name="TextBox 4"/>
          <p:cNvSpPr txBox="1"/>
          <p:nvPr/>
        </p:nvSpPr>
        <p:spPr>
          <a:xfrm>
            <a:off x="438912" y="6428232"/>
            <a:ext cx="10881360" cy="274320"/>
          </a:xfrm>
          <a:prstGeom prst="rect">
            <a:avLst/>
          </a:prstGeom>
          <a:noFill/>
        </p:spPr>
        <p:txBody>
          <a:bodyPr wrap="square" lIns="27432" rIns="27432" tIns="18288" bIns="18288">
            <a:spAutoFit/>
          </a:bodyPr>
          <a:lstStyle/>
          <a:p>
            <a:pPr algn="l">
              <a:spcAft>
                <a:spcPts val="500"/>
              </a:spcAft>
              <a:defRPr sz="1000" b="0">
                <a:solidFill>
                  <a:srgbClr val="5C6F7E"/>
                </a:solidFill>
                <a:latin typeface="Arial"/>
              </a:defRPr>
            </a:pPr>
            <a:r>
              <a:t>Sources: R3, R5, R6, R7</a:t>
            </a:r>
          </a:p>
        </p:txBody>
      </p:sp>
      <p:sp>
        <p:nvSpPr>
          <p:cNvPr id="6" name="TextBox 5"/>
          <p:cNvSpPr txBox="1"/>
          <p:nvPr/>
        </p:nvSpPr>
        <p:spPr>
          <a:xfrm>
            <a:off x="11384280" y="6400800"/>
            <a:ext cx="365760" cy="320040"/>
          </a:xfrm>
          <a:prstGeom prst="rect">
            <a:avLst/>
          </a:prstGeom>
          <a:noFill/>
        </p:spPr>
        <p:txBody>
          <a:bodyPr wrap="square" lIns="27432" rIns="27432" tIns="18288" bIns="18288">
            <a:spAutoFit/>
          </a:bodyPr>
          <a:lstStyle/>
          <a:p>
            <a:pPr algn="r">
              <a:spcAft>
                <a:spcPts val="500"/>
              </a:spcAft>
              <a:defRPr sz="1100" b="0">
                <a:solidFill>
                  <a:srgbClr val="5C6F7E"/>
                </a:solidFill>
                <a:latin typeface="Arial"/>
              </a:defRPr>
            </a:pPr>
            <a:r>
              <a:t>19</a:t>
            </a:r>
          </a:p>
        </p:txBody>
      </p:sp>
      <p:sp>
        <p:nvSpPr>
          <p:cNvPr id="7" name="TextBox 6"/>
          <p:cNvSpPr txBox="1"/>
          <p:nvPr/>
        </p:nvSpPr>
        <p:spPr>
          <a:xfrm>
            <a:off x="685800" y="178308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Rated capacity</a:t>
            </a:r>
          </a:p>
        </p:txBody>
      </p:sp>
      <p:sp>
        <p:nvSpPr>
          <p:cNvPr id="8" name="TextBox 7"/>
          <p:cNvSpPr txBox="1"/>
          <p:nvPr/>
        </p:nvSpPr>
        <p:spPr>
          <a:xfrm>
            <a:off x="3291840" y="178308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1.3 GW does not mean constant 1.3 GW output.</a:t>
            </a:r>
          </a:p>
        </p:txBody>
      </p:sp>
      <p:sp>
        <p:nvSpPr>
          <p:cNvPr id="9" name="TextBox 8"/>
          <p:cNvSpPr txBox="1"/>
          <p:nvPr/>
        </p:nvSpPr>
        <p:spPr>
          <a:xfrm>
            <a:off x="685800" y="274320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Carbon</a:t>
            </a:r>
          </a:p>
        </p:txBody>
      </p:sp>
      <p:sp>
        <p:nvSpPr>
          <p:cNvPr id="10" name="TextBox 9"/>
          <p:cNvSpPr txBox="1"/>
          <p:nvPr/>
        </p:nvSpPr>
        <p:spPr>
          <a:xfrm>
            <a:off x="3291840" y="274320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No operational combustion ≠ zero life-cycle emissions.</a:t>
            </a:r>
          </a:p>
        </p:txBody>
      </p:sp>
      <p:sp>
        <p:nvSpPr>
          <p:cNvPr id="11" name="TextBox 10"/>
          <p:cNvSpPr txBox="1"/>
          <p:nvPr/>
        </p:nvSpPr>
        <p:spPr>
          <a:xfrm>
            <a:off x="685800" y="370332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Land area</a:t>
            </a:r>
          </a:p>
        </p:txBody>
      </p:sp>
      <p:sp>
        <p:nvSpPr>
          <p:cNvPr id="12" name="TextBox 11"/>
          <p:cNvSpPr txBox="1"/>
          <p:nvPr/>
        </p:nvSpPr>
        <p:spPr>
          <a:xfrm>
            <a:off x="3291840" y="370332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Direct footprint ≠ total wind-farm project area.</a:t>
            </a:r>
          </a:p>
        </p:txBody>
      </p:sp>
      <p:sp>
        <p:nvSpPr>
          <p:cNvPr id="13" name="TextBox 12"/>
          <p:cNvSpPr txBox="1"/>
          <p:nvPr/>
        </p:nvSpPr>
        <p:spPr>
          <a:xfrm>
            <a:off x="685800" y="4663440"/>
            <a:ext cx="2468880" cy="658368"/>
          </a:xfrm>
          <a:prstGeom prst="rect">
            <a:avLst/>
          </a:prstGeom>
          <a:noFill/>
        </p:spPr>
        <p:txBody>
          <a:bodyPr wrap="square" lIns="27432" rIns="27432" tIns="18288" bIns="18288">
            <a:spAutoFit/>
          </a:bodyPr>
          <a:lstStyle/>
          <a:p>
            <a:pPr algn="l">
              <a:spcAft>
                <a:spcPts val="500"/>
              </a:spcAft>
              <a:defRPr sz="2100" b="1">
                <a:solidFill>
                  <a:srgbClr val="008D91"/>
                </a:solidFill>
                <a:latin typeface="Arial"/>
              </a:defRPr>
            </a:pPr>
            <a:r>
              <a:t>Flexibility</a:t>
            </a:r>
          </a:p>
        </p:txBody>
      </p:sp>
      <p:sp>
        <p:nvSpPr>
          <p:cNvPr id="14" name="TextBox 13"/>
          <p:cNvSpPr txBox="1"/>
          <p:nvPr/>
        </p:nvSpPr>
        <p:spPr>
          <a:xfrm>
            <a:off x="3291840" y="4663440"/>
            <a:ext cx="8092440" cy="713232"/>
          </a:xfrm>
          <a:prstGeom prst="rect">
            <a:avLst/>
          </a:prstGeom>
          <a:noFill/>
        </p:spPr>
        <p:txBody>
          <a:bodyPr wrap="square" lIns="27432" rIns="27432" tIns="18288" bIns="18288">
            <a:spAutoFit/>
          </a:bodyPr>
          <a:lstStyle/>
          <a:p>
            <a:pPr algn="l">
              <a:spcAft>
                <a:spcPts val="500"/>
              </a:spcAft>
              <a:defRPr sz="2200" b="0">
                <a:solidFill>
                  <a:srgbClr val="183247"/>
                </a:solidFill>
                <a:latin typeface="Arial"/>
              </a:defRPr>
            </a:pPr>
            <a:r>
              <a:t>A dedicated battery is not mandatory for every wind farm.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